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Avg Price</c:v>
                </c:pt>
              </c:strCache>
            </c:strRef>
          </c:tx>
          <c:spPr>
            <a:solidFill>
              <a:srgbClr val="FF385C"/>
            </a:solidFill>
            <a:effectLst/>
          </c:spPr>
          <c:invertIfNegative val="0"/>
          <c:dLbls>
            <c:numFmt formatCode="#,##0" sourceLinked="0"/>
            <c:spPr>
              <a:noFill/>
              <a:ln>
                <a:noFill/>
              </a:ln>
              <a:effectLst/>
            </c:spPr>
            <c:txPr>
              <a:bodyPr/>
              <a:lstStyle/>
              <a:p>
                <a:pPr>
                  <a:defRPr sz="800" b="0" i="0" u="none" strike="noStrike">
                    <a:solidFill>
                      <a:srgbClr val="191919"/>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Amsterdam</c:v>
                </c:pt>
                <c:pt idx="1">
                  <c:v>Paris</c:v>
                </c:pt>
                <c:pt idx="2">
                  <c:v>Rome</c:v>
                </c:pt>
                <c:pt idx="3">
                  <c:v>Vienna</c:v>
                </c:pt>
                <c:pt idx="4">
                  <c:v>Berlin</c:v>
                </c:pt>
                <c:pt idx="5">
                  <c:v>Athens</c:v>
                </c:pt>
              </c:strCache>
            </c:strRef>
          </c:cat>
          <c:val>
            <c:numRef>
              <c:f>Sheet1!$B$2:$B$7</c:f>
              <c:numCache>
                <c:formatCode>General</c:formatCode>
                <c:ptCount val="6"/>
                <c:pt idx="0">
                  <c:v>195</c:v>
                </c:pt>
                <c:pt idx="1">
                  <c:v>168</c:v>
                </c:pt>
                <c:pt idx="2">
                  <c:v>142</c:v>
                </c:pt>
                <c:pt idx="3">
                  <c:v>130</c:v>
                </c:pt>
                <c:pt idx="4">
                  <c:v>118</c:v>
                </c:pt>
                <c:pt idx="5">
                  <c:v>96</c:v>
                </c:pt>
              </c:numCache>
            </c:numRef>
          </c:val>
          <c:extLst>
            <c:ext xmlns:c16="http://schemas.microsoft.com/office/drawing/2014/chart" uri="{C3380CC4-5D6E-409C-BE32-E72D297353CC}">
              <c16:uniqueId val="{00000000-8CD5-45B5-B7CE-8329360226D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71717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BEB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717171"/>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502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as Mohammed Mokhtar, Data Analyst at Beyond Fitness and Kaggle Master, currently studying Business Computing &amp; AI at Cairo University. Frame this presentation as an end-to-end Business Intelligence project built on real Airbnb listing data across 10 European cities — from raw data to an executive Power BI dashboard. Set the tone: this is both a technical deep-dive and a business story about how data drives pricing and investment decisions in the short-term rental market.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problem in plain terms: hosts, property managers, and investors are pricing and positioning listings without a consolidated analytics view. Walk through the three objectives — clean data, engineer meaningful features, and deliver a dashboard. Emphasize the dataset scale: 51,000+ listings across 10 European cities (e.g. Amsterdam, Paris, Rome, Vienna) gives enough volume and geographic diversity to generalize insights. Use the stat strip to anchor the scale of the project before diving into architecture.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medallion architecture. Bronze preserves raw data exactly as received for traceability. Silver is where cleaning, deduplication, and type correction happen. Gold is business-ready: engineered features and aggregates. From Gold, data flows into a SQL data warehouse organized as a star schema, which finally feeds the Power BI dashboard layer that stakeholders interact with. Emphasize that this layered approach is an industry-standard pattern (medallion architecture) that keeps the pipeline auditable, maintainable, and scalable.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Silver-layer cleaning work. Missing values were handled with business logic (e.g. imputing missing review counts as zero for new listings rather than dropping rows). Duplicate listings were removed to avoid inflating city-level counts. Data types were corrected — prices stored as text with currency symbols were parsed to numeric, dates to proper datetime. Net result: a measurable jump in data quality and trustworthiness before any analysis or modeling began.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engineered feature was created to answer a specific business question, not just for modeling convenience. Price Category enables tier-based benchmarking. Property Size isolates capacity as a revenue lever. Guest Group aligns listings with traveler segments. Distance Category and Premium Location together quantify how much location — not just amenities — drives price. Host Type separates individual hosts from professional operators, which matters for supply-side and regulatory analysis. Stress that good feature engineering is what turns raw columns into business-ready insight.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EDA workflow: distribution checks, outlier review, and correlation analysis between price and other variables. Point to the sample chart — average price by city — as an illustrative output; the live dashboard has the full interactive version. Highlight the three business questions this phase was designed to answer, which directly set up the Gold-layer features and the star schema design in the next sections.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star schema at the center of the SQL data warehouse: a single FACT_LISTINGS table holding measures like price, reviews, and availability, surrounded by DIM_LOCATION, DIM_PROPERTY, DIM_HOST, and DIM_DATE dimension tables. Emphasize why star schema was chosen over a normalized snowflake model: simpler joins, faster query performance for Power BI, and easier maintenance — all important for a BI-first use case rather than transactional systems.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Power BI report page. Executive Overview is the landing page with headline KPIs. Location Analysis lets stakeholders drill into cities and neighborhoods on a map visual. Property Analysis breaks down pricing by room type and size. Host &amp; Customer Analysis segments by host professionalism and guest review behavior. Executive Summary closes the loop with a narrative, print-friendly page for leadership who want the story without navigating the full report. Mention that every page shares consistent filters/slicers for a seamless cross-page exploration experience.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insights slide — go through each finding briefly. Location dominates pricing more than any single amenity. Entire-home listings command a clear premium versus shared or private rooms. Larger properties drive higher absolute revenue, even if price-per-guest is flatter. Amsterdam tops the price ranking among the 10 cities studied. Superhost badge alone doesn't move price much — trust signals matter less than location and size. Weekend pricing is modestly higher, reflecting leisure travel demand. Overall, neighborhood desirability is the single biggest lever — more than any one feature of the property itself.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insights into action across three horizons. Investment: point capital toward premium neighborhoods and entire-home properties with larger capacity, since these show the strongest revenue potential. Pricing: build pricing strategy around location tier and modest weekend premiums, and avoid over-indexing on Superhost status. Future Improvements: introduce dynamic, data-driven pricing and expand the feature set to capture review sentiment and seasonal demand shifts. This slide is where the technical work converts into business value for stakeholders.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roadmap with four natural next steps. Web scraping keeps the data pipeline current beyond a static dataset. Machine learning price prediction turns the engineered features into a recommendation engine for optimal pricing. Time-series analysis adds a temporal dimension to capture seasonality. Interactive forecasting brings what-if scenario planning directly into the hands of business users inside Power BI. Frame these as a credible, prioritized roadmap rather than a wish list.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aimed squarely at recruiters and hiring managers. Emphasize the full-stack nature of the project: Python and SQL for data engineering, EDA and feature engineering for analytical rigor, a proper data warehouse for scalable modeling, and Power BI with DAX for polished executive delivery. The combination of technical depth and business storytelling is the core value proposition — this is not just a dashboard, it's an end-to-end BI capability demonstration.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for their time. Invite questions, and reiterate the core narrative in one sentence: this project shows an end-to-end BI pipeline — from raw Airbnb data to an executive Power BI dashboard — that surfaces actionable pricing and investment insights. Offer to walk through the live Power BI file, the SQL warehouse schema, or the underlying Python/notebook code in more depth if the audience wants a technical deep dive. Share contact details for follow-up.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3.png"/><Relationship Id="rId4" Type="http://schemas.openxmlformats.org/officeDocument/2006/relationships/image" Target="../media/image15.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36.png"/><Relationship Id="rId12"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39.png"/><Relationship Id="rId5" Type="http://schemas.openxmlformats.org/officeDocument/2006/relationships/image" Target="../media/image4.png"/><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6492240" y="-1463040"/>
            <a:ext cx="3840480" cy="3840480"/>
          </a:xfrm>
          <a:prstGeom prst="ellipse">
            <a:avLst/>
          </a:prstGeom>
          <a:solidFill>
            <a:srgbClr val="FF385C"/>
          </a:solidFill>
          <a:ln/>
        </p:spPr>
        <p:txBody>
          <a:bodyPr/>
          <a:lstStyle/>
          <a:p>
            <a:endParaRPr lang="en-US"/>
          </a:p>
        </p:txBody>
      </p:sp>
      <p:sp>
        <p:nvSpPr>
          <p:cNvPr id="3" name="Shape 1"/>
          <p:cNvSpPr/>
          <p:nvPr/>
        </p:nvSpPr>
        <p:spPr>
          <a:xfrm>
            <a:off x="6903720" y="-1051560"/>
            <a:ext cx="3017520" cy="3017520"/>
          </a:xfrm>
          <a:prstGeom prst="ellipse">
            <a:avLst/>
          </a:prstGeom>
          <a:solidFill>
            <a:srgbClr val="191919"/>
          </a:solidFill>
          <a:ln/>
        </p:spPr>
        <p:txBody>
          <a:bodyPr/>
          <a:lstStyle/>
          <a:p>
            <a:endParaRPr lang="en-US"/>
          </a:p>
        </p:txBody>
      </p:sp>
      <p:sp>
        <p:nvSpPr>
          <p:cNvPr id="4" name="Shape 2"/>
          <p:cNvSpPr/>
          <p:nvPr/>
        </p:nvSpPr>
        <p:spPr>
          <a:xfrm>
            <a:off x="-1280160" y="3291840"/>
            <a:ext cx="2743200" cy="2743200"/>
          </a:xfrm>
          <a:prstGeom prst="ellipse">
            <a:avLst/>
          </a:prstGeom>
          <a:solidFill>
            <a:srgbClr val="252525"/>
          </a:solidFill>
          <a:ln/>
        </p:spPr>
        <p:txBody>
          <a:bodyPr/>
          <a:lstStyle/>
          <a:p>
            <a:endParaRPr lang="en-US"/>
          </a:p>
        </p:txBody>
      </p:sp>
      <p:sp>
        <p:nvSpPr>
          <p:cNvPr id="5" name="Shape 3"/>
          <p:cNvSpPr/>
          <p:nvPr/>
        </p:nvSpPr>
        <p:spPr>
          <a:xfrm>
            <a:off x="548640" y="502920"/>
            <a:ext cx="566928" cy="566928"/>
          </a:xfrm>
          <a:prstGeom prst="ellipse">
            <a:avLst/>
          </a:prstGeom>
          <a:solidFill>
            <a:srgbClr val="FF385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76199" y="630479"/>
            <a:ext cx="311810" cy="311810"/>
          </a:xfrm>
          <a:prstGeom prst="rect">
            <a:avLst/>
          </a:prstGeom>
        </p:spPr>
      </p:pic>
      <p:sp>
        <p:nvSpPr>
          <p:cNvPr id="7" name="Text 4"/>
          <p:cNvSpPr/>
          <p:nvPr/>
        </p:nvSpPr>
        <p:spPr>
          <a:xfrm>
            <a:off x="548640" y="1965960"/>
            <a:ext cx="6400800" cy="320040"/>
          </a:xfrm>
          <a:prstGeom prst="rect">
            <a:avLst/>
          </a:prstGeom>
          <a:noFill/>
          <a:ln/>
        </p:spPr>
        <p:txBody>
          <a:bodyPr wrap="square" lIns="0" tIns="0" rIns="0" bIns="0" rtlCol="0" anchor="ctr"/>
          <a:lstStyle/>
          <a:p>
            <a:pPr marL="0" indent="0">
              <a:buNone/>
            </a:pPr>
            <a:r>
              <a:rPr lang="en-US" sz="1300" b="1" kern="0" spc="300" dirty="0">
                <a:solidFill>
                  <a:srgbClr val="FF385C"/>
                </a:solidFill>
                <a:latin typeface="Calibri" pitchFamily="34" charset="0"/>
                <a:ea typeface="Calibri" pitchFamily="34" charset="-122"/>
                <a:cs typeface="Calibri" pitchFamily="34" charset="-120"/>
              </a:rPr>
              <a:t>BUSINESS INTELLIGENCE PROJECT</a:t>
            </a:r>
            <a:endParaRPr lang="en-US" sz="1300" dirty="0"/>
          </a:p>
        </p:txBody>
      </p:sp>
      <p:sp>
        <p:nvSpPr>
          <p:cNvPr id="8" name="Text 5"/>
          <p:cNvSpPr/>
          <p:nvPr/>
        </p:nvSpPr>
        <p:spPr>
          <a:xfrm>
            <a:off x="530352" y="2286000"/>
            <a:ext cx="7498080" cy="155448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Airbnb Analytics &amp;</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Business Intelligence Dashboard</a:t>
            </a:r>
            <a:endParaRPr lang="en-US" sz="3800" dirty="0"/>
          </a:p>
        </p:txBody>
      </p:sp>
      <p:sp>
        <p:nvSpPr>
          <p:cNvPr id="9" name="Shape 6"/>
          <p:cNvSpPr/>
          <p:nvPr/>
        </p:nvSpPr>
        <p:spPr>
          <a:xfrm>
            <a:off x="566928" y="3977640"/>
            <a:ext cx="1005840" cy="0"/>
          </a:xfrm>
          <a:prstGeom prst="line">
            <a:avLst/>
          </a:prstGeom>
          <a:noFill/>
          <a:ln w="12700">
            <a:solidFill>
              <a:srgbClr val="B0B0B0"/>
            </a:solidFill>
            <a:prstDash val="solid"/>
          </a:ln>
        </p:spPr>
        <p:txBody>
          <a:bodyPr/>
          <a:lstStyle/>
          <a:p>
            <a:endParaRPr lang="en-US"/>
          </a:p>
        </p:txBody>
      </p:sp>
      <p:sp>
        <p:nvSpPr>
          <p:cNvPr id="10" name="Text 7"/>
          <p:cNvSpPr/>
          <p:nvPr/>
        </p:nvSpPr>
        <p:spPr>
          <a:xfrm>
            <a:off x="548640" y="4114800"/>
            <a:ext cx="5486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Mohammed Mokhtar</a:t>
            </a:r>
            <a:endParaRPr lang="en-US" sz="1600" dirty="0"/>
          </a:p>
        </p:txBody>
      </p:sp>
      <p:sp>
        <p:nvSpPr>
          <p:cNvPr id="11" name="Text 8"/>
          <p:cNvSpPr/>
          <p:nvPr/>
        </p:nvSpPr>
        <p:spPr>
          <a:xfrm>
            <a:off x="548640" y="4453128"/>
            <a:ext cx="7315200" cy="320040"/>
          </a:xfrm>
          <a:prstGeom prst="rect">
            <a:avLst/>
          </a:prstGeom>
          <a:noFill/>
          <a:ln/>
        </p:spPr>
        <p:txBody>
          <a:bodyPr wrap="square" lIns="0" tIns="0" rIns="0" bIns="0" rtlCol="0" anchor="ctr"/>
          <a:lstStyle/>
          <a:p>
            <a:pPr marL="0" indent="0">
              <a:buNone/>
            </a:pPr>
            <a:r>
              <a:rPr lang="en-US" sz="1150" dirty="0">
                <a:solidFill>
                  <a:srgbClr val="B0B0B0"/>
                </a:solidFill>
                <a:latin typeface="Calibri" pitchFamily="34" charset="0"/>
                <a:ea typeface="Calibri" pitchFamily="34" charset="-122"/>
                <a:cs typeface="Calibri" pitchFamily="34" charset="-120"/>
              </a:rPr>
              <a:t>AI Engineer &amp; Data Scientist|  Kaggle Master  |  Computers&amp; AI, Cairo University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01 · INTRODUCTION</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Project Overview</a:t>
            </a:r>
            <a:endParaRPr lang="en-US" sz="3000" dirty="0"/>
          </a:p>
        </p:txBody>
      </p:sp>
      <p:sp>
        <p:nvSpPr>
          <p:cNvPr id="4" name="Text 2"/>
          <p:cNvSpPr/>
          <p:nvPr/>
        </p:nvSpPr>
        <p:spPr>
          <a:xfrm>
            <a:off x="320040" y="4902521"/>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02</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374904" y="1848448"/>
            <a:ext cx="2560320" cy="3063240"/>
          </a:xfrm>
          <a:prstGeom prst="roundRect">
            <a:avLst>
              <a:gd name="adj" fmla="val 3214"/>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30936" y="2104480"/>
            <a:ext cx="566928" cy="566928"/>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48711" y="2240543"/>
            <a:ext cx="294803" cy="294803"/>
          </a:xfrm>
          <a:prstGeom prst="rect">
            <a:avLst/>
          </a:prstGeom>
        </p:spPr>
      </p:pic>
      <p:sp>
        <p:nvSpPr>
          <p:cNvPr id="11" name="Text 7"/>
          <p:cNvSpPr/>
          <p:nvPr/>
        </p:nvSpPr>
        <p:spPr>
          <a:xfrm>
            <a:off x="630936" y="2808568"/>
            <a:ext cx="2048256" cy="411480"/>
          </a:xfrm>
          <a:prstGeom prst="rect">
            <a:avLst/>
          </a:prstGeom>
          <a:noFill/>
          <a:ln/>
        </p:spPr>
        <p:txBody>
          <a:bodyPr wrap="square" lIns="0" tIns="0" rIns="0" bIns="0" rtlCol="0" anchor="ctr"/>
          <a:lstStyle/>
          <a:p>
            <a:pPr marL="0" indent="0">
              <a:buNone/>
            </a:pPr>
            <a:r>
              <a:rPr lang="en-US" sz="1600" b="1" dirty="0">
                <a:solidFill>
                  <a:srgbClr val="191919"/>
                </a:solidFill>
                <a:latin typeface="Cambria" pitchFamily="34" charset="0"/>
                <a:ea typeface="Cambria" pitchFamily="34" charset="-122"/>
                <a:cs typeface="Cambria" pitchFamily="34" charset="-120"/>
              </a:rPr>
              <a:t>Business Problem</a:t>
            </a:r>
            <a:endParaRPr lang="en-US" sz="1600" dirty="0"/>
          </a:p>
        </p:txBody>
      </p:sp>
      <p:sp>
        <p:nvSpPr>
          <p:cNvPr id="12" name="Text 8"/>
          <p:cNvSpPr/>
          <p:nvPr/>
        </p:nvSpPr>
        <p:spPr>
          <a:xfrm>
            <a:off x="630936" y="3220048"/>
            <a:ext cx="2048256" cy="1463040"/>
          </a:xfrm>
          <a:prstGeom prst="rect">
            <a:avLst/>
          </a:prstGeom>
          <a:noFill/>
          <a:ln/>
        </p:spPr>
        <p:txBody>
          <a:bodyPr wrap="square" lIns="0" tIns="0" rIns="0" bIns="0" rtlCol="0" anchor="t"/>
          <a:lstStyle/>
          <a:p>
            <a:pPr marL="0" indent="0">
              <a:lnSpc>
                <a:spcPct val="120000"/>
              </a:lnSpc>
              <a:buNone/>
            </a:pPr>
            <a:r>
              <a:rPr lang="en-US" sz="1150" dirty="0">
                <a:solidFill>
                  <a:srgbClr val="717171"/>
                </a:solidFill>
                <a:latin typeface="Calibri" pitchFamily="34" charset="0"/>
                <a:ea typeface="Calibri" pitchFamily="34" charset="-122"/>
                <a:cs typeface="Calibri" pitchFamily="34" charset="-120"/>
              </a:rPr>
              <a:t>Hosts and investors lack a unified, data-driven view of pricing, occupancy drivers, and competitive positioning across European Airbnb markets.</a:t>
            </a:r>
            <a:endParaRPr lang="en-US" sz="1150" dirty="0"/>
          </a:p>
        </p:txBody>
      </p:sp>
      <p:sp>
        <p:nvSpPr>
          <p:cNvPr id="13" name="Shape 9"/>
          <p:cNvSpPr/>
          <p:nvPr/>
        </p:nvSpPr>
        <p:spPr>
          <a:xfrm>
            <a:off x="3250692" y="1848448"/>
            <a:ext cx="2560320" cy="3063240"/>
          </a:xfrm>
          <a:prstGeom prst="roundRect">
            <a:avLst>
              <a:gd name="adj" fmla="val 3214"/>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4" name="Shape 10"/>
          <p:cNvSpPr/>
          <p:nvPr/>
        </p:nvSpPr>
        <p:spPr>
          <a:xfrm>
            <a:off x="3506724" y="2104480"/>
            <a:ext cx="566928" cy="566928"/>
          </a:xfrm>
          <a:prstGeom prst="ellipse">
            <a:avLst/>
          </a:prstGeom>
          <a:solidFill>
            <a:srgbClr val="FF385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642787" y="2240543"/>
            <a:ext cx="294803" cy="294803"/>
          </a:xfrm>
          <a:prstGeom prst="rect">
            <a:avLst/>
          </a:prstGeom>
        </p:spPr>
      </p:pic>
      <p:sp>
        <p:nvSpPr>
          <p:cNvPr id="16" name="Text 11"/>
          <p:cNvSpPr/>
          <p:nvPr/>
        </p:nvSpPr>
        <p:spPr>
          <a:xfrm>
            <a:off x="3506724" y="2808568"/>
            <a:ext cx="2048256" cy="411480"/>
          </a:xfrm>
          <a:prstGeom prst="rect">
            <a:avLst/>
          </a:prstGeom>
          <a:noFill/>
          <a:ln/>
        </p:spPr>
        <p:txBody>
          <a:bodyPr wrap="square" lIns="0" tIns="0" rIns="0" bIns="0" rtlCol="0" anchor="ctr"/>
          <a:lstStyle/>
          <a:p>
            <a:pPr marL="0" indent="0">
              <a:buNone/>
            </a:pPr>
            <a:r>
              <a:rPr lang="en-US" sz="1600" b="1" dirty="0">
                <a:solidFill>
                  <a:srgbClr val="191919"/>
                </a:solidFill>
                <a:latin typeface="Cambria" pitchFamily="34" charset="0"/>
                <a:ea typeface="Cambria" pitchFamily="34" charset="-122"/>
                <a:cs typeface="Cambria" pitchFamily="34" charset="-120"/>
              </a:rPr>
              <a:t>Objectives</a:t>
            </a:r>
            <a:endParaRPr lang="en-US" sz="1600" dirty="0"/>
          </a:p>
        </p:txBody>
      </p:sp>
      <p:sp>
        <p:nvSpPr>
          <p:cNvPr id="17" name="Text 12"/>
          <p:cNvSpPr/>
          <p:nvPr/>
        </p:nvSpPr>
        <p:spPr>
          <a:xfrm>
            <a:off x="3506724" y="3220048"/>
            <a:ext cx="2048256" cy="1463040"/>
          </a:xfrm>
          <a:prstGeom prst="rect">
            <a:avLst/>
          </a:prstGeom>
          <a:noFill/>
          <a:ln/>
        </p:spPr>
        <p:txBody>
          <a:bodyPr wrap="square" lIns="0" tIns="0" rIns="0" bIns="0" rtlCol="0" anchor="t"/>
          <a:lstStyle/>
          <a:p>
            <a:pPr marL="0" indent="0">
              <a:lnSpc>
                <a:spcPct val="120000"/>
              </a:lnSpc>
              <a:buNone/>
            </a:pPr>
            <a:r>
              <a:rPr lang="en-US" sz="1150" dirty="0">
                <a:solidFill>
                  <a:srgbClr val="717171"/>
                </a:solidFill>
                <a:latin typeface="Calibri" pitchFamily="34" charset="0"/>
                <a:ea typeface="Calibri" pitchFamily="34" charset="-122"/>
                <a:cs typeface="Calibri" pitchFamily="34" charset="-120"/>
              </a:rPr>
              <a:t>Clean and model raw listing data, engineer decision-ready features, and deliver an executive Power BI dashboard that answers pricing and investment questions.</a:t>
            </a:r>
            <a:endParaRPr lang="en-US" sz="1150" dirty="0"/>
          </a:p>
        </p:txBody>
      </p:sp>
      <p:sp>
        <p:nvSpPr>
          <p:cNvPr id="18" name="Shape 13"/>
          <p:cNvSpPr/>
          <p:nvPr/>
        </p:nvSpPr>
        <p:spPr>
          <a:xfrm>
            <a:off x="6126480" y="1848448"/>
            <a:ext cx="2560320" cy="3063240"/>
          </a:xfrm>
          <a:prstGeom prst="roundRect">
            <a:avLst>
              <a:gd name="adj" fmla="val 3214"/>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9" name="Shape 14"/>
          <p:cNvSpPr/>
          <p:nvPr/>
        </p:nvSpPr>
        <p:spPr>
          <a:xfrm>
            <a:off x="6382512" y="2104480"/>
            <a:ext cx="566928" cy="566928"/>
          </a:xfrm>
          <a:prstGeom prst="ellipse">
            <a:avLst/>
          </a:prstGeom>
          <a:solidFill>
            <a:srgbClr val="FF385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518575" y="2240543"/>
            <a:ext cx="294803" cy="294803"/>
          </a:xfrm>
          <a:prstGeom prst="rect">
            <a:avLst/>
          </a:prstGeom>
        </p:spPr>
      </p:pic>
      <p:sp>
        <p:nvSpPr>
          <p:cNvPr id="21" name="Text 15"/>
          <p:cNvSpPr/>
          <p:nvPr/>
        </p:nvSpPr>
        <p:spPr>
          <a:xfrm>
            <a:off x="6382512" y="2808568"/>
            <a:ext cx="2048256" cy="411480"/>
          </a:xfrm>
          <a:prstGeom prst="rect">
            <a:avLst/>
          </a:prstGeom>
          <a:noFill/>
          <a:ln/>
        </p:spPr>
        <p:txBody>
          <a:bodyPr wrap="square" lIns="0" tIns="0" rIns="0" bIns="0" rtlCol="0" anchor="ctr"/>
          <a:lstStyle/>
          <a:p>
            <a:pPr marL="0" indent="0">
              <a:buNone/>
            </a:pPr>
            <a:r>
              <a:rPr lang="en-US" sz="1600" b="1" dirty="0">
                <a:solidFill>
                  <a:srgbClr val="191919"/>
                </a:solidFill>
                <a:latin typeface="Cambria" pitchFamily="34" charset="0"/>
                <a:ea typeface="Cambria" pitchFamily="34" charset="-122"/>
                <a:cs typeface="Cambria" pitchFamily="34" charset="-120"/>
              </a:rPr>
              <a:t>Dataset Overview</a:t>
            </a:r>
            <a:endParaRPr lang="en-US" sz="1600" dirty="0"/>
          </a:p>
        </p:txBody>
      </p:sp>
      <p:sp>
        <p:nvSpPr>
          <p:cNvPr id="22" name="Text 16"/>
          <p:cNvSpPr/>
          <p:nvPr/>
        </p:nvSpPr>
        <p:spPr>
          <a:xfrm>
            <a:off x="6382512" y="3220048"/>
            <a:ext cx="2048256" cy="1463040"/>
          </a:xfrm>
          <a:prstGeom prst="rect">
            <a:avLst/>
          </a:prstGeom>
          <a:noFill/>
          <a:ln/>
        </p:spPr>
        <p:txBody>
          <a:bodyPr wrap="square" lIns="0" tIns="0" rIns="0" bIns="0" rtlCol="0" anchor="t"/>
          <a:lstStyle/>
          <a:p>
            <a:pPr marL="0" indent="0">
              <a:lnSpc>
                <a:spcPct val="120000"/>
              </a:lnSpc>
              <a:buNone/>
            </a:pPr>
            <a:r>
              <a:rPr lang="en-US" sz="1150" dirty="0">
                <a:solidFill>
                  <a:srgbClr val="717171"/>
                </a:solidFill>
                <a:latin typeface="Calibri" pitchFamily="34" charset="0"/>
                <a:ea typeface="Calibri" pitchFamily="34" charset="-122"/>
                <a:cs typeface="Calibri" pitchFamily="34" charset="-120"/>
              </a:rPr>
              <a:t>51,000+ active listings spanning 10 major European cities, capturing price, location, room type, capacity, reviews, and host attributes.</a:t>
            </a:r>
            <a:endParaRPr lang="en-US" sz="1150" dirty="0"/>
          </a:p>
        </p:txBody>
      </p:sp>
      <p:sp>
        <p:nvSpPr>
          <p:cNvPr id="23" name="Text 17"/>
          <p:cNvSpPr/>
          <p:nvPr/>
        </p:nvSpPr>
        <p:spPr>
          <a:xfrm>
            <a:off x="828588" y="1258671"/>
            <a:ext cx="1463040" cy="548640"/>
          </a:xfrm>
          <a:prstGeom prst="rect">
            <a:avLst/>
          </a:prstGeom>
          <a:noFill/>
          <a:ln/>
        </p:spPr>
        <p:txBody>
          <a:bodyPr wrap="square" lIns="0" tIns="0" rIns="0" bIns="0" rtlCol="0" anchor="ctr"/>
          <a:lstStyle/>
          <a:p>
            <a:pPr marL="0" indent="0" algn="ctr">
              <a:buNone/>
            </a:pPr>
            <a:r>
              <a:rPr lang="en-US" sz="2000" b="1" dirty="0">
                <a:solidFill>
                  <a:srgbClr val="FF385C"/>
                </a:solidFill>
                <a:latin typeface="Cambria" pitchFamily="34" charset="0"/>
                <a:ea typeface="Cambria" pitchFamily="34" charset="-122"/>
                <a:cs typeface="Cambria" pitchFamily="34" charset="-120"/>
              </a:rPr>
              <a:t>51K+</a:t>
            </a:r>
            <a:endParaRPr lang="en-US" sz="2000" dirty="0"/>
          </a:p>
          <a:p>
            <a:pPr marL="0" indent="0" algn="ctr">
              <a:buNone/>
            </a:pPr>
            <a:r>
              <a:rPr lang="en-US" sz="950" dirty="0">
                <a:solidFill>
                  <a:srgbClr val="717171"/>
                </a:solidFill>
                <a:latin typeface="Cambria" pitchFamily="34" charset="0"/>
                <a:ea typeface="Cambria" pitchFamily="34" charset="-122"/>
                <a:cs typeface="Cambria" pitchFamily="34" charset="-120"/>
              </a:rPr>
              <a:t>listings</a:t>
            </a:r>
            <a:endParaRPr lang="en-US" sz="2000" dirty="0"/>
          </a:p>
        </p:txBody>
      </p:sp>
      <p:sp>
        <p:nvSpPr>
          <p:cNvPr id="24" name="Text 18"/>
          <p:cNvSpPr/>
          <p:nvPr/>
        </p:nvSpPr>
        <p:spPr>
          <a:xfrm>
            <a:off x="2495610" y="1190092"/>
            <a:ext cx="1737360" cy="548640"/>
          </a:xfrm>
          <a:prstGeom prst="rect">
            <a:avLst/>
          </a:prstGeom>
          <a:noFill/>
          <a:ln/>
        </p:spPr>
        <p:txBody>
          <a:bodyPr wrap="square" lIns="0" tIns="0" rIns="0" bIns="0" rtlCol="0" anchor="ctr"/>
          <a:lstStyle/>
          <a:p>
            <a:pPr marL="0" indent="0" algn="ctr">
              <a:buNone/>
            </a:pPr>
            <a:r>
              <a:rPr lang="en-US" sz="2000" b="1" dirty="0">
                <a:solidFill>
                  <a:srgbClr val="FF385C"/>
                </a:solidFill>
                <a:latin typeface="Cambria" pitchFamily="34" charset="0"/>
                <a:ea typeface="Cambria" pitchFamily="34" charset="-122"/>
                <a:cs typeface="Cambria" pitchFamily="34" charset="-120"/>
              </a:rPr>
              <a:t>10</a:t>
            </a:r>
            <a:endParaRPr lang="en-US" sz="2000" dirty="0"/>
          </a:p>
          <a:p>
            <a:pPr marL="0" indent="0" algn="ctr">
              <a:buNone/>
            </a:pPr>
            <a:r>
              <a:rPr lang="en-US" sz="950" dirty="0">
                <a:solidFill>
                  <a:srgbClr val="717171"/>
                </a:solidFill>
                <a:latin typeface="Cambria" pitchFamily="34" charset="0"/>
                <a:ea typeface="Cambria" pitchFamily="34" charset="-122"/>
                <a:cs typeface="Cambria" pitchFamily="34" charset="-120"/>
              </a:rPr>
              <a:t>European cities</a:t>
            </a:r>
            <a:endParaRPr lang="en-US" sz="2000" dirty="0"/>
          </a:p>
        </p:txBody>
      </p:sp>
      <p:sp>
        <p:nvSpPr>
          <p:cNvPr id="25" name="Text 19"/>
          <p:cNvSpPr/>
          <p:nvPr/>
        </p:nvSpPr>
        <p:spPr>
          <a:xfrm>
            <a:off x="4733076" y="1179506"/>
            <a:ext cx="1920240" cy="548640"/>
          </a:xfrm>
          <a:prstGeom prst="rect">
            <a:avLst/>
          </a:prstGeom>
          <a:noFill/>
          <a:ln/>
        </p:spPr>
        <p:txBody>
          <a:bodyPr wrap="square" lIns="0" tIns="0" rIns="0" bIns="0" rtlCol="0" anchor="ctr"/>
          <a:lstStyle/>
          <a:p>
            <a:pPr marL="0" indent="0" algn="ctr">
              <a:buNone/>
            </a:pPr>
            <a:r>
              <a:rPr lang="en-US" sz="2000" b="1" dirty="0">
                <a:solidFill>
                  <a:srgbClr val="FF385C"/>
                </a:solidFill>
                <a:latin typeface="Cambria" pitchFamily="34" charset="0"/>
                <a:ea typeface="Cambria" pitchFamily="34" charset="-122"/>
                <a:cs typeface="Cambria" pitchFamily="34" charset="-120"/>
              </a:rPr>
              <a:t>3</a:t>
            </a:r>
            <a:endParaRPr lang="en-US" sz="2000" dirty="0"/>
          </a:p>
          <a:p>
            <a:pPr marL="0" indent="0" algn="ctr">
              <a:buNone/>
            </a:pPr>
            <a:r>
              <a:rPr lang="en-US" sz="950" dirty="0">
                <a:solidFill>
                  <a:srgbClr val="717171"/>
                </a:solidFill>
                <a:latin typeface="Cambria" pitchFamily="34" charset="0"/>
                <a:ea typeface="Cambria" pitchFamily="34" charset="-122"/>
                <a:cs typeface="Cambria" pitchFamily="34" charset="-120"/>
              </a:rPr>
              <a:t>medallion layers</a:t>
            </a:r>
            <a:endParaRPr lang="en-US" sz="2000" dirty="0"/>
          </a:p>
        </p:txBody>
      </p:sp>
      <p:sp>
        <p:nvSpPr>
          <p:cNvPr id="26" name="Text 20"/>
          <p:cNvSpPr/>
          <p:nvPr/>
        </p:nvSpPr>
        <p:spPr>
          <a:xfrm>
            <a:off x="7153422" y="1186868"/>
            <a:ext cx="2103120" cy="548640"/>
          </a:xfrm>
          <a:prstGeom prst="rect">
            <a:avLst/>
          </a:prstGeom>
          <a:noFill/>
          <a:ln/>
        </p:spPr>
        <p:txBody>
          <a:bodyPr wrap="square" lIns="0" tIns="0" rIns="0" bIns="0" rtlCol="0" anchor="ctr"/>
          <a:lstStyle/>
          <a:p>
            <a:pPr marL="0" indent="0" algn="ctr">
              <a:buNone/>
            </a:pPr>
            <a:r>
              <a:rPr lang="en-US" sz="2000" b="1" dirty="0">
                <a:solidFill>
                  <a:srgbClr val="FF385C"/>
                </a:solidFill>
                <a:latin typeface="Cambria" pitchFamily="34" charset="0"/>
                <a:ea typeface="Cambria" pitchFamily="34" charset="-122"/>
                <a:cs typeface="Cambria" pitchFamily="34" charset="-120"/>
              </a:rPr>
              <a:t>1</a:t>
            </a:r>
            <a:endParaRPr lang="en-US" sz="2000" dirty="0"/>
          </a:p>
          <a:p>
            <a:pPr marL="0" indent="0" algn="ctr">
              <a:buNone/>
            </a:pPr>
            <a:r>
              <a:rPr lang="en-US" sz="950" dirty="0">
                <a:solidFill>
                  <a:srgbClr val="717171"/>
                </a:solidFill>
                <a:latin typeface="Cambria" pitchFamily="34" charset="0"/>
                <a:ea typeface="Cambria" pitchFamily="34" charset="-122"/>
                <a:cs typeface="Cambria" pitchFamily="34" charset="-120"/>
              </a:rPr>
              <a:t>executive dashboard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02 · ARCHITECTURE</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Project Architecture</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03</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1426464" y="2258568"/>
            <a:ext cx="6291072" cy="0"/>
          </a:xfrm>
          <a:prstGeom prst="line">
            <a:avLst/>
          </a:prstGeom>
          <a:noFill/>
          <a:ln w="25400">
            <a:solidFill>
              <a:srgbClr val="EBEBEB"/>
            </a:solidFill>
            <a:prstDash val="solid"/>
          </a:ln>
        </p:spPr>
        <p:txBody>
          <a:bodyPr/>
          <a:lstStyle/>
          <a:p>
            <a:endParaRPr lang="en-US"/>
          </a:p>
        </p:txBody>
      </p:sp>
      <p:sp>
        <p:nvSpPr>
          <p:cNvPr id="9" name="Shape 6"/>
          <p:cNvSpPr/>
          <p:nvPr/>
        </p:nvSpPr>
        <p:spPr>
          <a:xfrm>
            <a:off x="1115568" y="1874520"/>
            <a:ext cx="621792" cy="621792"/>
          </a:xfrm>
          <a:prstGeom prst="ellipse">
            <a:avLst/>
          </a:prstGeom>
          <a:solidFill>
            <a:srgbClr val="D96A44"/>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264798" y="2023750"/>
            <a:ext cx="323332" cy="323332"/>
          </a:xfrm>
          <a:prstGeom prst="rect">
            <a:avLst/>
          </a:prstGeom>
        </p:spPr>
      </p:pic>
      <p:sp>
        <p:nvSpPr>
          <p:cNvPr id="11" name="Shape 7"/>
          <p:cNvSpPr/>
          <p:nvPr/>
        </p:nvSpPr>
        <p:spPr>
          <a:xfrm>
            <a:off x="1874520" y="1819656"/>
            <a:ext cx="310896" cy="310896"/>
          </a:xfrm>
          <a:prstGeom prst="ellipse">
            <a:avLst/>
          </a:prstGeom>
          <a:solidFill>
            <a:srgbClr val="191919"/>
          </a:solidFill>
          <a:ln/>
        </p:spPr>
        <p:txBody>
          <a:bodyPr/>
          <a:lstStyle/>
          <a:p>
            <a:endParaRPr lang="en-US"/>
          </a:p>
        </p:txBody>
      </p:sp>
      <p:sp>
        <p:nvSpPr>
          <p:cNvPr id="12" name="Text 8"/>
          <p:cNvSpPr/>
          <p:nvPr/>
        </p:nvSpPr>
        <p:spPr>
          <a:xfrm>
            <a:off x="1874520" y="181965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9"/>
          <p:cNvSpPr/>
          <p:nvPr/>
        </p:nvSpPr>
        <p:spPr>
          <a:xfrm>
            <a:off x="640080" y="2624328"/>
            <a:ext cx="1572768" cy="411480"/>
          </a:xfrm>
          <a:prstGeom prst="rect">
            <a:avLst/>
          </a:prstGeom>
          <a:noFill/>
          <a:ln/>
        </p:spPr>
        <p:txBody>
          <a:bodyPr wrap="square" lIns="0" tIns="0" rIns="0" bIns="0" rtlCol="0" anchor="ctr"/>
          <a:lstStyle/>
          <a:p>
            <a:pPr marL="0" indent="0" algn="ctr">
              <a:buNone/>
            </a:pPr>
            <a:r>
              <a:rPr lang="en-US" sz="1250" b="1" dirty="0">
                <a:solidFill>
                  <a:srgbClr val="191919"/>
                </a:solidFill>
                <a:latin typeface="Cambria" pitchFamily="34" charset="0"/>
                <a:ea typeface="Cambria" pitchFamily="34" charset="-122"/>
                <a:cs typeface="Cambria" pitchFamily="34" charset="-120"/>
              </a:rPr>
              <a:t>Bronze Layer</a:t>
            </a:r>
            <a:endParaRPr lang="en-US" sz="1250" dirty="0"/>
          </a:p>
        </p:txBody>
      </p:sp>
      <p:sp>
        <p:nvSpPr>
          <p:cNvPr id="14" name="Text 10"/>
          <p:cNvSpPr/>
          <p:nvPr/>
        </p:nvSpPr>
        <p:spPr>
          <a:xfrm>
            <a:off x="640080" y="2990088"/>
            <a:ext cx="1572768" cy="274320"/>
          </a:xfrm>
          <a:prstGeom prst="rect">
            <a:avLst/>
          </a:prstGeom>
          <a:noFill/>
          <a:ln/>
        </p:spPr>
        <p:txBody>
          <a:bodyPr wrap="square" lIns="0" tIns="0" rIns="0" bIns="0" rtlCol="0" anchor="ctr"/>
          <a:lstStyle/>
          <a:p>
            <a:pPr marL="0" indent="0" algn="ctr">
              <a:buNone/>
            </a:pPr>
            <a:r>
              <a:rPr lang="en-US" sz="900" i="1" dirty="0">
                <a:solidFill>
                  <a:srgbClr val="FF385C"/>
                </a:solidFill>
                <a:latin typeface="Calibri" pitchFamily="34" charset="0"/>
                <a:ea typeface="Calibri" pitchFamily="34" charset="-122"/>
                <a:cs typeface="Calibri" pitchFamily="34" charset="-120"/>
              </a:rPr>
              <a:t>Raw ingestion</a:t>
            </a:r>
            <a:endParaRPr lang="en-US" sz="900" dirty="0"/>
          </a:p>
        </p:txBody>
      </p:sp>
      <p:sp>
        <p:nvSpPr>
          <p:cNvPr id="15" name="Text 11"/>
          <p:cNvSpPr/>
          <p:nvPr/>
        </p:nvSpPr>
        <p:spPr>
          <a:xfrm>
            <a:off x="640080" y="3291840"/>
            <a:ext cx="1572768" cy="914400"/>
          </a:xfrm>
          <a:prstGeom prst="rect">
            <a:avLst/>
          </a:prstGeom>
          <a:noFill/>
          <a:ln/>
        </p:spPr>
        <p:txBody>
          <a:bodyPr wrap="square" lIns="0" tIns="0" rIns="0" bIns="0" rtlCol="0" anchor="ctr"/>
          <a:lstStyle/>
          <a:p>
            <a:pPr marL="0" indent="0" algn="ctr">
              <a:lnSpc>
                <a:spcPct val="115000"/>
              </a:lnSpc>
              <a:buNone/>
            </a:pPr>
            <a:r>
              <a:rPr lang="en-US" sz="900" dirty="0">
                <a:solidFill>
                  <a:srgbClr val="717171"/>
                </a:solidFill>
                <a:latin typeface="Calibri" pitchFamily="34" charset="0"/>
                <a:ea typeface="Calibri" pitchFamily="34" charset="-122"/>
                <a:cs typeface="Calibri" pitchFamily="34" charset="-120"/>
              </a:rPr>
              <a:t>Raw CSV listings loaded as-is, preserving source fidelity for auditability.</a:t>
            </a:r>
            <a:endParaRPr lang="en-US" sz="900" dirty="0"/>
          </a:p>
        </p:txBody>
      </p:sp>
      <p:sp>
        <p:nvSpPr>
          <p:cNvPr id="16" name="Shape 12"/>
          <p:cNvSpPr/>
          <p:nvPr/>
        </p:nvSpPr>
        <p:spPr>
          <a:xfrm>
            <a:off x="2688336" y="1874520"/>
            <a:ext cx="621792" cy="621792"/>
          </a:xfrm>
          <a:prstGeom prst="ellipse">
            <a:avLst/>
          </a:prstGeom>
          <a:solidFill>
            <a:srgbClr val="C9A227"/>
          </a:solidFill>
          <a:ln/>
        </p:spPr>
        <p:txBody>
          <a:bodyPr/>
          <a:lstStyle/>
          <a:p>
            <a:endParaRPr lang="en-US"/>
          </a:p>
        </p:txBody>
      </p:sp>
      <p:pic>
        <p:nvPicPr>
          <p:cNvPr id="17" name="Image 2" descr="preencoded.png"/>
          <p:cNvPicPr>
            <a:picLocks noChangeAspect="1"/>
          </p:cNvPicPr>
          <p:nvPr/>
        </p:nvPicPr>
        <p:blipFill>
          <a:blip r:embed="rId4"/>
          <a:stretch>
            <a:fillRect/>
          </a:stretch>
        </p:blipFill>
        <p:spPr>
          <a:xfrm>
            <a:off x="2837566" y="2023750"/>
            <a:ext cx="323332" cy="323332"/>
          </a:xfrm>
          <a:prstGeom prst="rect">
            <a:avLst/>
          </a:prstGeom>
        </p:spPr>
      </p:pic>
      <p:sp>
        <p:nvSpPr>
          <p:cNvPr id="18" name="Shape 13"/>
          <p:cNvSpPr/>
          <p:nvPr/>
        </p:nvSpPr>
        <p:spPr>
          <a:xfrm>
            <a:off x="3447288" y="1819656"/>
            <a:ext cx="310896" cy="310896"/>
          </a:xfrm>
          <a:prstGeom prst="ellipse">
            <a:avLst/>
          </a:prstGeom>
          <a:solidFill>
            <a:srgbClr val="191919"/>
          </a:solidFill>
          <a:ln/>
        </p:spPr>
        <p:txBody>
          <a:bodyPr/>
          <a:lstStyle/>
          <a:p>
            <a:endParaRPr lang="en-US"/>
          </a:p>
        </p:txBody>
      </p:sp>
      <p:sp>
        <p:nvSpPr>
          <p:cNvPr id="19" name="Text 14"/>
          <p:cNvSpPr/>
          <p:nvPr/>
        </p:nvSpPr>
        <p:spPr>
          <a:xfrm>
            <a:off x="3447288" y="181965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5"/>
          <p:cNvSpPr/>
          <p:nvPr/>
        </p:nvSpPr>
        <p:spPr>
          <a:xfrm>
            <a:off x="2212848" y="2624328"/>
            <a:ext cx="1572768" cy="411480"/>
          </a:xfrm>
          <a:prstGeom prst="rect">
            <a:avLst/>
          </a:prstGeom>
          <a:noFill/>
          <a:ln/>
        </p:spPr>
        <p:txBody>
          <a:bodyPr wrap="square" lIns="0" tIns="0" rIns="0" bIns="0" rtlCol="0" anchor="ctr"/>
          <a:lstStyle/>
          <a:p>
            <a:pPr marL="0" indent="0" algn="ctr">
              <a:buNone/>
            </a:pPr>
            <a:r>
              <a:rPr lang="en-US" sz="1250" b="1" dirty="0">
                <a:solidFill>
                  <a:srgbClr val="191919"/>
                </a:solidFill>
                <a:latin typeface="Cambria" pitchFamily="34" charset="0"/>
                <a:ea typeface="Cambria" pitchFamily="34" charset="-122"/>
                <a:cs typeface="Cambria" pitchFamily="34" charset="-120"/>
              </a:rPr>
              <a:t>Silver Layer</a:t>
            </a:r>
            <a:endParaRPr lang="en-US" sz="1250" dirty="0"/>
          </a:p>
        </p:txBody>
      </p:sp>
      <p:sp>
        <p:nvSpPr>
          <p:cNvPr id="21" name="Text 16"/>
          <p:cNvSpPr/>
          <p:nvPr/>
        </p:nvSpPr>
        <p:spPr>
          <a:xfrm>
            <a:off x="2212848" y="2990088"/>
            <a:ext cx="1572768" cy="274320"/>
          </a:xfrm>
          <a:prstGeom prst="rect">
            <a:avLst/>
          </a:prstGeom>
          <a:noFill/>
          <a:ln/>
        </p:spPr>
        <p:txBody>
          <a:bodyPr wrap="square" lIns="0" tIns="0" rIns="0" bIns="0" rtlCol="0" anchor="ctr"/>
          <a:lstStyle/>
          <a:p>
            <a:pPr marL="0" indent="0" algn="ctr">
              <a:buNone/>
            </a:pPr>
            <a:r>
              <a:rPr lang="en-US" sz="900" i="1" dirty="0">
                <a:solidFill>
                  <a:srgbClr val="FF385C"/>
                </a:solidFill>
                <a:latin typeface="Calibri" pitchFamily="34" charset="0"/>
                <a:ea typeface="Calibri" pitchFamily="34" charset="-122"/>
                <a:cs typeface="Calibri" pitchFamily="34" charset="-120"/>
              </a:rPr>
              <a:t>Cleaned &amp; typed</a:t>
            </a:r>
            <a:endParaRPr lang="en-US" sz="900" dirty="0"/>
          </a:p>
        </p:txBody>
      </p:sp>
      <p:sp>
        <p:nvSpPr>
          <p:cNvPr id="22" name="Text 17"/>
          <p:cNvSpPr/>
          <p:nvPr/>
        </p:nvSpPr>
        <p:spPr>
          <a:xfrm>
            <a:off x="2212848" y="3291840"/>
            <a:ext cx="1572768" cy="914400"/>
          </a:xfrm>
          <a:prstGeom prst="rect">
            <a:avLst/>
          </a:prstGeom>
          <a:noFill/>
          <a:ln/>
        </p:spPr>
        <p:txBody>
          <a:bodyPr wrap="square" lIns="0" tIns="0" rIns="0" bIns="0" rtlCol="0" anchor="ctr"/>
          <a:lstStyle/>
          <a:p>
            <a:pPr marL="0" indent="0" algn="ctr">
              <a:lnSpc>
                <a:spcPct val="115000"/>
              </a:lnSpc>
              <a:buNone/>
            </a:pPr>
            <a:r>
              <a:rPr lang="en-US" sz="900" dirty="0">
                <a:solidFill>
                  <a:srgbClr val="717171"/>
                </a:solidFill>
                <a:latin typeface="Calibri" pitchFamily="34" charset="0"/>
                <a:ea typeface="Calibri" pitchFamily="34" charset="-122"/>
                <a:cs typeface="Calibri" pitchFamily="34" charset="-120"/>
              </a:rPr>
              <a:t>Deduplicated, type-corrected, validated data ready for modeling.</a:t>
            </a:r>
            <a:endParaRPr lang="en-US" sz="900" dirty="0"/>
          </a:p>
        </p:txBody>
      </p:sp>
      <p:sp>
        <p:nvSpPr>
          <p:cNvPr id="23" name="Shape 18"/>
          <p:cNvSpPr/>
          <p:nvPr/>
        </p:nvSpPr>
        <p:spPr>
          <a:xfrm>
            <a:off x="4261104" y="1874520"/>
            <a:ext cx="621792" cy="621792"/>
          </a:xfrm>
          <a:prstGeom prst="ellipse">
            <a:avLst/>
          </a:prstGeom>
          <a:solidFill>
            <a:srgbClr val="8A9A5B"/>
          </a:solidFill>
          <a:ln/>
        </p:spPr>
        <p:txBody>
          <a:bodyPr/>
          <a:lstStyle/>
          <a:p>
            <a:endParaRPr lang="en-US"/>
          </a:p>
        </p:txBody>
      </p:sp>
      <p:pic>
        <p:nvPicPr>
          <p:cNvPr id="24" name="Image 3" descr="preencoded.png"/>
          <p:cNvPicPr>
            <a:picLocks noChangeAspect="1"/>
          </p:cNvPicPr>
          <p:nvPr/>
        </p:nvPicPr>
        <p:blipFill>
          <a:blip r:embed="rId4"/>
          <a:stretch>
            <a:fillRect/>
          </a:stretch>
        </p:blipFill>
        <p:spPr>
          <a:xfrm>
            <a:off x="4410334" y="2023750"/>
            <a:ext cx="323332" cy="323332"/>
          </a:xfrm>
          <a:prstGeom prst="rect">
            <a:avLst/>
          </a:prstGeom>
        </p:spPr>
      </p:pic>
      <p:sp>
        <p:nvSpPr>
          <p:cNvPr id="25" name="Shape 19"/>
          <p:cNvSpPr/>
          <p:nvPr/>
        </p:nvSpPr>
        <p:spPr>
          <a:xfrm>
            <a:off x="5020056" y="1819656"/>
            <a:ext cx="310896" cy="310896"/>
          </a:xfrm>
          <a:prstGeom prst="ellipse">
            <a:avLst/>
          </a:prstGeom>
          <a:solidFill>
            <a:srgbClr val="191919"/>
          </a:solidFill>
          <a:ln/>
        </p:spPr>
        <p:txBody>
          <a:bodyPr/>
          <a:lstStyle/>
          <a:p>
            <a:endParaRPr lang="en-US"/>
          </a:p>
        </p:txBody>
      </p:sp>
      <p:sp>
        <p:nvSpPr>
          <p:cNvPr id="26" name="Text 20"/>
          <p:cNvSpPr/>
          <p:nvPr/>
        </p:nvSpPr>
        <p:spPr>
          <a:xfrm>
            <a:off x="5020056" y="181965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1"/>
          <p:cNvSpPr/>
          <p:nvPr/>
        </p:nvSpPr>
        <p:spPr>
          <a:xfrm>
            <a:off x="3785616" y="2624328"/>
            <a:ext cx="1572768" cy="411480"/>
          </a:xfrm>
          <a:prstGeom prst="rect">
            <a:avLst/>
          </a:prstGeom>
          <a:noFill/>
          <a:ln/>
        </p:spPr>
        <p:txBody>
          <a:bodyPr wrap="square" lIns="0" tIns="0" rIns="0" bIns="0" rtlCol="0" anchor="ctr"/>
          <a:lstStyle/>
          <a:p>
            <a:pPr marL="0" indent="0" algn="ctr">
              <a:buNone/>
            </a:pPr>
            <a:r>
              <a:rPr lang="en-US" sz="1250" b="1" dirty="0">
                <a:solidFill>
                  <a:srgbClr val="191919"/>
                </a:solidFill>
                <a:latin typeface="Cambria" pitchFamily="34" charset="0"/>
                <a:ea typeface="Cambria" pitchFamily="34" charset="-122"/>
                <a:cs typeface="Cambria" pitchFamily="34" charset="-120"/>
              </a:rPr>
              <a:t>Gold Layer</a:t>
            </a:r>
            <a:endParaRPr lang="en-US" sz="1250" dirty="0"/>
          </a:p>
        </p:txBody>
      </p:sp>
      <p:sp>
        <p:nvSpPr>
          <p:cNvPr id="28" name="Text 22"/>
          <p:cNvSpPr/>
          <p:nvPr/>
        </p:nvSpPr>
        <p:spPr>
          <a:xfrm>
            <a:off x="3785616" y="2990088"/>
            <a:ext cx="1572768" cy="274320"/>
          </a:xfrm>
          <a:prstGeom prst="rect">
            <a:avLst/>
          </a:prstGeom>
          <a:noFill/>
          <a:ln/>
        </p:spPr>
        <p:txBody>
          <a:bodyPr wrap="square" lIns="0" tIns="0" rIns="0" bIns="0" rtlCol="0" anchor="ctr"/>
          <a:lstStyle/>
          <a:p>
            <a:pPr marL="0" indent="0" algn="ctr">
              <a:buNone/>
            </a:pPr>
            <a:r>
              <a:rPr lang="en-US" sz="900" i="1" dirty="0">
                <a:solidFill>
                  <a:srgbClr val="FF385C"/>
                </a:solidFill>
                <a:latin typeface="Calibri" pitchFamily="34" charset="0"/>
                <a:ea typeface="Calibri" pitchFamily="34" charset="-122"/>
                <a:cs typeface="Calibri" pitchFamily="34" charset="-120"/>
              </a:rPr>
              <a:t>Business-ready</a:t>
            </a:r>
            <a:endParaRPr lang="en-US" sz="900" dirty="0"/>
          </a:p>
        </p:txBody>
      </p:sp>
      <p:sp>
        <p:nvSpPr>
          <p:cNvPr id="29" name="Text 23"/>
          <p:cNvSpPr/>
          <p:nvPr/>
        </p:nvSpPr>
        <p:spPr>
          <a:xfrm>
            <a:off x="3785616" y="3291840"/>
            <a:ext cx="1572768" cy="914400"/>
          </a:xfrm>
          <a:prstGeom prst="rect">
            <a:avLst/>
          </a:prstGeom>
          <a:noFill/>
          <a:ln/>
        </p:spPr>
        <p:txBody>
          <a:bodyPr wrap="square" lIns="0" tIns="0" rIns="0" bIns="0" rtlCol="0" anchor="ctr"/>
          <a:lstStyle/>
          <a:p>
            <a:pPr marL="0" indent="0" algn="ctr">
              <a:lnSpc>
                <a:spcPct val="115000"/>
              </a:lnSpc>
              <a:buNone/>
            </a:pPr>
            <a:r>
              <a:rPr lang="en-US" sz="900" dirty="0">
                <a:solidFill>
                  <a:srgbClr val="717171"/>
                </a:solidFill>
                <a:latin typeface="Calibri" pitchFamily="34" charset="0"/>
                <a:ea typeface="Calibri" pitchFamily="34" charset="-122"/>
                <a:cs typeface="Calibri" pitchFamily="34" charset="-120"/>
              </a:rPr>
              <a:t>Feature-engineered, aggregated tables tailored to business questions.</a:t>
            </a:r>
            <a:endParaRPr lang="en-US" sz="900" dirty="0"/>
          </a:p>
        </p:txBody>
      </p:sp>
      <p:sp>
        <p:nvSpPr>
          <p:cNvPr id="30" name="Shape 24"/>
          <p:cNvSpPr/>
          <p:nvPr/>
        </p:nvSpPr>
        <p:spPr>
          <a:xfrm>
            <a:off x="5833872" y="1874520"/>
            <a:ext cx="621792" cy="621792"/>
          </a:xfrm>
          <a:prstGeom prst="ellipse">
            <a:avLst/>
          </a:prstGeom>
          <a:solidFill>
            <a:srgbClr val="FF385C"/>
          </a:solidFill>
          <a:ln/>
        </p:spPr>
        <p:txBody>
          <a:bodyPr/>
          <a:lstStyle/>
          <a:p>
            <a:endParaRPr lang="en-US"/>
          </a:p>
        </p:txBody>
      </p:sp>
      <p:pic>
        <p:nvPicPr>
          <p:cNvPr id="31" name="Image 4" descr="preencoded.png"/>
          <p:cNvPicPr>
            <a:picLocks noChangeAspect="1"/>
          </p:cNvPicPr>
          <p:nvPr/>
        </p:nvPicPr>
        <p:blipFill>
          <a:blip r:embed="rId5"/>
          <a:stretch>
            <a:fillRect/>
          </a:stretch>
        </p:blipFill>
        <p:spPr>
          <a:xfrm>
            <a:off x="5983102" y="2023750"/>
            <a:ext cx="323332" cy="323332"/>
          </a:xfrm>
          <a:prstGeom prst="rect">
            <a:avLst/>
          </a:prstGeom>
        </p:spPr>
      </p:pic>
      <p:sp>
        <p:nvSpPr>
          <p:cNvPr id="32" name="Shape 25"/>
          <p:cNvSpPr/>
          <p:nvPr/>
        </p:nvSpPr>
        <p:spPr>
          <a:xfrm>
            <a:off x="6592824" y="1819656"/>
            <a:ext cx="310896" cy="310896"/>
          </a:xfrm>
          <a:prstGeom prst="ellipse">
            <a:avLst/>
          </a:prstGeom>
          <a:solidFill>
            <a:srgbClr val="191919"/>
          </a:solidFill>
          <a:ln/>
        </p:spPr>
        <p:txBody>
          <a:bodyPr/>
          <a:lstStyle/>
          <a:p>
            <a:endParaRPr lang="en-US"/>
          </a:p>
        </p:txBody>
      </p:sp>
      <p:sp>
        <p:nvSpPr>
          <p:cNvPr id="33" name="Text 26"/>
          <p:cNvSpPr/>
          <p:nvPr/>
        </p:nvSpPr>
        <p:spPr>
          <a:xfrm>
            <a:off x="6592824" y="181965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4" name="Text 27"/>
          <p:cNvSpPr/>
          <p:nvPr/>
        </p:nvSpPr>
        <p:spPr>
          <a:xfrm>
            <a:off x="5358384" y="2624328"/>
            <a:ext cx="1572768" cy="411480"/>
          </a:xfrm>
          <a:prstGeom prst="rect">
            <a:avLst/>
          </a:prstGeom>
          <a:noFill/>
          <a:ln/>
        </p:spPr>
        <p:txBody>
          <a:bodyPr wrap="square" lIns="0" tIns="0" rIns="0" bIns="0" rtlCol="0" anchor="ctr"/>
          <a:lstStyle/>
          <a:p>
            <a:pPr marL="0" indent="0" algn="ctr">
              <a:buNone/>
            </a:pPr>
            <a:r>
              <a:rPr lang="en-US" sz="1250" b="1" dirty="0">
                <a:solidFill>
                  <a:srgbClr val="191919"/>
                </a:solidFill>
                <a:latin typeface="Cambria" pitchFamily="34" charset="0"/>
                <a:ea typeface="Cambria" pitchFamily="34" charset="-122"/>
                <a:cs typeface="Cambria" pitchFamily="34" charset="-120"/>
              </a:rPr>
              <a:t>SQL Data Warehouse</a:t>
            </a:r>
            <a:endParaRPr lang="en-US" sz="1250" dirty="0"/>
          </a:p>
        </p:txBody>
      </p:sp>
      <p:sp>
        <p:nvSpPr>
          <p:cNvPr id="35" name="Text 28"/>
          <p:cNvSpPr/>
          <p:nvPr/>
        </p:nvSpPr>
        <p:spPr>
          <a:xfrm>
            <a:off x="5358384" y="2990088"/>
            <a:ext cx="1572768" cy="274320"/>
          </a:xfrm>
          <a:prstGeom prst="rect">
            <a:avLst/>
          </a:prstGeom>
          <a:noFill/>
          <a:ln/>
        </p:spPr>
        <p:txBody>
          <a:bodyPr wrap="square" lIns="0" tIns="0" rIns="0" bIns="0" rtlCol="0" anchor="ctr"/>
          <a:lstStyle/>
          <a:p>
            <a:pPr marL="0" indent="0" algn="ctr">
              <a:buNone/>
            </a:pPr>
            <a:r>
              <a:rPr lang="en-US" sz="900" i="1" dirty="0">
                <a:solidFill>
                  <a:srgbClr val="FF385C"/>
                </a:solidFill>
                <a:latin typeface="Calibri" pitchFamily="34" charset="0"/>
                <a:ea typeface="Calibri" pitchFamily="34" charset="-122"/>
                <a:cs typeface="Calibri" pitchFamily="34" charset="-120"/>
              </a:rPr>
              <a:t>Star schema</a:t>
            </a:r>
            <a:endParaRPr lang="en-US" sz="900" dirty="0"/>
          </a:p>
        </p:txBody>
      </p:sp>
      <p:sp>
        <p:nvSpPr>
          <p:cNvPr id="36" name="Text 29"/>
          <p:cNvSpPr/>
          <p:nvPr/>
        </p:nvSpPr>
        <p:spPr>
          <a:xfrm>
            <a:off x="5358384" y="3291840"/>
            <a:ext cx="1572768" cy="914400"/>
          </a:xfrm>
          <a:prstGeom prst="rect">
            <a:avLst/>
          </a:prstGeom>
          <a:noFill/>
          <a:ln/>
        </p:spPr>
        <p:txBody>
          <a:bodyPr wrap="square" lIns="0" tIns="0" rIns="0" bIns="0" rtlCol="0" anchor="ctr"/>
          <a:lstStyle/>
          <a:p>
            <a:pPr marL="0" indent="0" algn="ctr">
              <a:lnSpc>
                <a:spcPct val="115000"/>
              </a:lnSpc>
              <a:buNone/>
            </a:pPr>
            <a:r>
              <a:rPr lang="en-US" sz="900" dirty="0">
                <a:solidFill>
                  <a:srgbClr val="717171"/>
                </a:solidFill>
                <a:latin typeface="Calibri" pitchFamily="34" charset="0"/>
                <a:ea typeface="Calibri" pitchFamily="34" charset="-122"/>
                <a:cs typeface="Calibri" pitchFamily="34" charset="-120"/>
              </a:rPr>
              <a:t>Fact and dimension tables optimized for fast analytical queries.</a:t>
            </a:r>
            <a:endParaRPr lang="en-US" sz="900" dirty="0"/>
          </a:p>
        </p:txBody>
      </p:sp>
      <p:sp>
        <p:nvSpPr>
          <p:cNvPr id="37" name="Shape 30"/>
          <p:cNvSpPr/>
          <p:nvPr/>
        </p:nvSpPr>
        <p:spPr>
          <a:xfrm>
            <a:off x="7406640" y="1874520"/>
            <a:ext cx="621792" cy="621792"/>
          </a:xfrm>
          <a:prstGeom prst="ellipse">
            <a:avLst/>
          </a:prstGeom>
          <a:solidFill>
            <a:srgbClr val="FF385C"/>
          </a:solidFill>
          <a:ln/>
        </p:spPr>
        <p:txBody>
          <a:bodyPr/>
          <a:lstStyle/>
          <a:p>
            <a:endParaRPr lang="en-US"/>
          </a:p>
        </p:txBody>
      </p:sp>
      <p:pic>
        <p:nvPicPr>
          <p:cNvPr id="38" name="Image 5" descr="preencoded.png"/>
          <p:cNvPicPr>
            <a:picLocks noChangeAspect="1"/>
          </p:cNvPicPr>
          <p:nvPr/>
        </p:nvPicPr>
        <p:blipFill>
          <a:blip r:embed="rId6"/>
          <a:stretch>
            <a:fillRect/>
          </a:stretch>
        </p:blipFill>
        <p:spPr>
          <a:xfrm>
            <a:off x="7555870" y="2023750"/>
            <a:ext cx="323332" cy="323332"/>
          </a:xfrm>
          <a:prstGeom prst="rect">
            <a:avLst/>
          </a:prstGeom>
        </p:spPr>
      </p:pic>
      <p:sp>
        <p:nvSpPr>
          <p:cNvPr id="39" name="Shape 31"/>
          <p:cNvSpPr/>
          <p:nvPr/>
        </p:nvSpPr>
        <p:spPr>
          <a:xfrm>
            <a:off x="8165592" y="1819656"/>
            <a:ext cx="310896" cy="310896"/>
          </a:xfrm>
          <a:prstGeom prst="ellipse">
            <a:avLst/>
          </a:prstGeom>
          <a:solidFill>
            <a:srgbClr val="191919"/>
          </a:solidFill>
          <a:ln/>
        </p:spPr>
        <p:txBody>
          <a:bodyPr/>
          <a:lstStyle/>
          <a:p>
            <a:endParaRPr lang="en-US"/>
          </a:p>
        </p:txBody>
      </p:sp>
      <p:sp>
        <p:nvSpPr>
          <p:cNvPr id="40" name="Text 32"/>
          <p:cNvSpPr/>
          <p:nvPr/>
        </p:nvSpPr>
        <p:spPr>
          <a:xfrm>
            <a:off x="8165592" y="181965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1" name="Text 33"/>
          <p:cNvSpPr/>
          <p:nvPr/>
        </p:nvSpPr>
        <p:spPr>
          <a:xfrm>
            <a:off x="6931152" y="2624328"/>
            <a:ext cx="1572768" cy="411480"/>
          </a:xfrm>
          <a:prstGeom prst="rect">
            <a:avLst/>
          </a:prstGeom>
          <a:noFill/>
          <a:ln/>
        </p:spPr>
        <p:txBody>
          <a:bodyPr wrap="square" lIns="0" tIns="0" rIns="0" bIns="0" rtlCol="0" anchor="ctr"/>
          <a:lstStyle/>
          <a:p>
            <a:pPr marL="0" indent="0" algn="ctr">
              <a:buNone/>
            </a:pPr>
            <a:r>
              <a:rPr lang="en-US" sz="1250" b="1" dirty="0">
                <a:solidFill>
                  <a:srgbClr val="191919"/>
                </a:solidFill>
                <a:latin typeface="Cambria" pitchFamily="34" charset="0"/>
                <a:ea typeface="Cambria" pitchFamily="34" charset="-122"/>
                <a:cs typeface="Cambria" pitchFamily="34" charset="-120"/>
              </a:rPr>
              <a:t>Power BI Dashboard</a:t>
            </a:r>
            <a:endParaRPr lang="en-US" sz="1250" dirty="0"/>
          </a:p>
        </p:txBody>
      </p:sp>
      <p:sp>
        <p:nvSpPr>
          <p:cNvPr id="42" name="Text 34"/>
          <p:cNvSpPr/>
          <p:nvPr/>
        </p:nvSpPr>
        <p:spPr>
          <a:xfrm>
            <a:off x="6931152" y="2990088"/>
            <a:ext cx="1572768" cy="274320"/>
          </a:xfrm>
          <a:prstGeom prst="rect">
            <a:avLst/>
          </a:prstGeom>
          <a:noFill/>
          <a:ln/>
        </p:spPr>
        <p:txBody>
          <a:bodyPr wrap="square" lIns="0" tIns="0" rIns="0" bIns="0" rtlCol="0" anchor="ctr"/>
          <a:lstStyle/>
          <a:p>
            <a:pPr marL="0" indent="0" algn="ctr">
              <a:buNone/>
            </a:pPr>
            <a:r>
              <a:rPr lang="en-US" sz="900" i="1" dirty="0">
                <a:solidFill>
                  <a:srgbClr val="FF385C"/>
                </a:solidFill>
                <a:latin typeface="Calibri" pitchFamily="34" charset="0"/>
                <a:ea typeface="Calibri" pitchFamily="34" charset="-122"/>
                <a:cs typeface="Calibri" pitchFamily="34" charset="-120"/>
              </a:rPr>
              <a:t>Insight delivery</a:t>
            </a:r>
            <a:endParaRPr lang="en-US" sz="900" dirty="0"/>
          </a:p>
        </p:txBody>
      </p:sp>
      <p:sp>
        <p:nvSpPr>
          <p:cNvPr id="43" name="Text 35"/>
          <p:cNvSpPr/>
          <p:nvPr/>
        </p:nvSpPr>
        <p:spPr>
          <a:xfrm>
            <a:off x="6931152" y="3291840"/>
            <a:ext cx="1572768" cy="914400"/>
          </a:xfrm>
          <a:prstGeom prst="rect">
            <a:avLst/>
          </a:prstGeom>
          <a:noFill/>
          <a:ln/>
        </p:spPr>
        <p:txBody>
          <a:bodyPr wrap="square" lIns="0" tIns="0" rIns="0" bIns="0" rtlCol="0" anchor="ctr"/>
          <a:lstStyle/>
          <a:p>
            <a:pPr marL="0" indent="0" algn="ctr">
              <a:lnSpc>
                <a:spcPct val="115000"/>
              </a:lnSpc>
              <a:buNone/>
            </a:pPr>
            <a:r>
              <a:rPr lang="en-US" sz="900" dirty="0">
                <a:solidFill>
                  <a:srgbClr val="717171"/>
                </a:solidFill>
                <a:latin typeface="Calibri" pitchFamily="34" charset="0"/>
                <a:ea typeface="Calibri" pitchFamily="34" charset="-122"/>
                <a:cs typeface="Calibri" pitchFamily="34" charset="-120"/>
              </a:rPr>
              <a:t>Interactive executive reporting layer for stakeholders.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03 · DATA PREPARATION</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Data Cleaning</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04</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457200" y="1536192"/>
            <a:ext cx="3986784" cy="1481328"/>
          </a:xfrm>
          <a:prstGeom prst="roundRect">
            <a:avLst>
              <a:gd name="adj" fmla="val 493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76656" y="2002536"/>
            <a:ext cx="548640" cy="548640"/>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808330" y="2134210"/>
            <a:ext cx="285293" cy="285293"/>
          </a:xfrm>
          <a:prstGeom prst="rect">
            <a:avLst/>
          </a:prstGeom>
        </p:spPr>
      </p:pic>
      <p:sp>
        <p:nvSpPr>
          <p:cNvPr id="11" name="Text 7"/>
          <p:cNvSpPr/>
          <p:nvPr/>
        </p:nvSpPr>
        <p:spPr>
          <a:xfrm>
            <a:off x="1389888" y="1719072"/>
            <a:ext cx="2843784" cy="320040"/>
          </a:xfrm>
          <a:prstGeom prst="rect">
            <a:avLst/>
          </a:prstGeom>
          <a:noFill/>
          <a:ln/>
        </p:spPr>
        <p:txBody>
          <a:bodyPr wrap="square" lIns="0" tIns="0" rIns="0" bIns="0" rtlCol="0" anchor="ctr"/>
          <a:lstStyle/>
          <a:p>
            <a:pPr marL="0" indent="0">
              <a:buNone/>
            </a:pPr>
            <a:r>
              <a:rPr lang="en-US" sz="1400" b="1" dirty="0">
                <a:solidFill>
                  <a:srgbClr val="191919"/>
                </a:solidFill>
                <a:latin typeface="Cambria" pitchFamily="34" charset="0"/>
                <a:ea typeface="Cambria" pitchFamily="34" charset="-122"/>
                <a:cs typeface="Cambria" pitchFamily="34" charset="-120"/>
              </a:rPr>
              <a:t>Missing Values</a:t>
            </a:r>
            <a:endParaRPr lang="en-US" sz="1400" dirty="0"/>
          </a:p>
        </p:txBody>
      </p:sp>
      <p:sp>
        <p:nvSpPr>
          <p:cNvPr id="12" name="Text 8"/>
          <p:cNvSpPr/>
          <p:nvPr/>
        </p:nvSpPr>
        <p:spPr>
          <a:xfrm>
            <a:off x="1389888" y="2048256"/>
            <a:ext cx="2843784" cy="841248"/>
          </a:xfrm>
          <a:prstGeom prst="rect">
            <a:avLst/>
          </a:prstGeom>
          <a:noFill/>
          <a:ln/>
        </p:spPr>
        <p:txBody>
          <a:bodyPr wrap="square" lIns="0" tIns="0" rIns="0" bIns="0" rtlCol="0" anchor="ctr"/>
          <a:lstStyle/>
          <a:p>
            <a:pPr marL="0" indent="0">
              <a:lnSpc>
                <a:spcPct val="115000"/>
              </a:lnSpc>
              <a:buNone/>
            </a:pPr>
            <a:r>
              <a:rPr lang="en-US" sz="1050" dirty="0">
                <a:solidFill>
                  <a:srgbClr val="717171"/>
                </a:solidFill>
                <a:latin typeface="Calibri" pitchFamily="34" charset="0"/>
                <a:ea typeface="Calibri" pitchFamily="34" charset="-122"/>
                <a:cs typeface="Calibri" pitchFamily="34" charset="-120"/>
              </a:rPr>
              <a:t>Identified nulls across price, reviews, and host fields; imputed or flagged based on business logic rather than blind deletion.</a:t>
            </a:r>
            <a:endParaRPr lang="en-US" sz="1050" dirty="0"/>
          </a:p>
        </p:txBody>
      </p:sp>
      <p:sp>
        <p:nvSpPr>
          <p:cNvPr id="13" name="Shape 9"/>
          <p:cNvSpPr/>
          <p:nvPr/>
        </p:nvSpPr>
        <p:spPr>
          <a:xfrm>
            <a:off x="4700016" y="1536192"/>
            <a:ext cx="3986784" cy="1481328"/>
          </a:xfrm>
          <a:prstGeom prst="roundRect">
            <a:avLst>
              <a:gd name="adj" fmla="val 493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4" name="Shape 10"/>
          <p:cNvSpPr/>
          <p:nvPr/>
        </p:nvSpPr>
        <p:spPr>
          <a:xfrm>
            <a:off x="4919472" y="2002536"/>
            <a:ext cx="548640" cy="548640"/>
          </a:xfrm>
          <a:prstGeom prst="ellipse">
            <a:avLst/>
          </a:prstGeom>
          <a:solidFill>
            <a:srgbClr val="FF385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5051146" y="2134210"/>
            <a:ext cx="285293" cy="285293"/>
          </a:xfrm>
          <a:prstGeom prst="rect">
            <a:avLst/>
          </a:prstGeom>
        </p:spPr>
      </p:pic>
      <p:sp>
        <p:nvSpPr>
          <p:cNvPr id="16" name="Text 11"/>
          <p:cNvSpPr/>
          <p:nvPr/>
        </p:nvSpPr>
        <p:spPr>
          <a:xfrm>
            <a:off x="5632704" y="1719072"/>
            <a:ext cx="2843784" cy="320040"/>
          </a:xfrm>
          <a:prstGeom prst="rect">
            <a:avLst/>
          </a:prstGeom>
          <a:noFill/>
          <a:ln/>
        </p:spPr>
        <p:txBody>
          <a:bodyPr wrap="square" lIns="0" tIns="0" rIns="0" bIns="0" rtlCol="0" anchor="ctr"/>
          <a:lstStyle/>
          <a:p>
            <a:pPr marL="0" indent="0">
              <a:buNone/>
            </a:pPr>
            <a:r>
              <a:rPr lang="en-US" sz="1400" b="1" dirty="0">
                <a:solidFill>
                  <a:srgbClr val="191919"/>
                </a:solidFill>
                <a:latin typeface="Cambria" pitchFamily="34" charset="0"/>
                <a:ea typeface="Cambria" pitchFamily="34" charset="-122"/>
                <a:cs typeface="Cambria" pitchFamily="34" charset="-120"/>
              </a:rPr>
              <a:t>Duplicates</a:t>
            </a:r>
            <a:endParaRPr lang="en-US" sz="1400" dirty="0"/>
          </a:p>
        </p:txBody>
      </p:sp>
      <p:sp>
        <p:nvSpPr>
          <p:cNvPr id="17" name="Text 12"/>
          <p:cNvSpPr/>
          <p:nvPr/>
        </p:nvSpPr>
        <p:spPr>
          <a:xfrm>
            <a:off x="5632704" y="2048256"/>
            <a:ext cx="2843784" cy="841248"/>
          </a:xfrm>
          <a:prstGeom prst="rect">
            <a:avLst/>
          </a:prstGeom>
          <a:noFill/>
          <a:ln/>
        </p:spPr>
        <p:txBody>
          <a:bodyPr wrap="square" lIns="0" tIns="0" rIns="0" bIns="0" rtlCol="0" anchor="ctr"/>
          <a:lstStyle/>
          <a:p>
            <a:pPr marL="0" indent="0">
              <a:lnSpc>
                <a:spcPct val="115000"/>
              </a:lnSpc>
              <a:buNone/>
            </a:pPr>
            <a:r>
              <a:rPr lang="en-US" sz="1050" dirty="0">
                <a:solidFill>
                  <a:srgbClr val="717171"/>
                </a:solidFill>
                <a:latin typeface="Calibri" pitchFamily="34" charset="0"/>
                <a:ea typeface="Calibri" pitchFamily="34" charset="-122"/>
                <a:cs typeface="Calibri" pitchFamily="34" charset="-120"/>
              </a:rPr>
              <a:t>Detected and removed duplicate listing records to prevent double-counting in pricing and revenue analysis.</a:t>
            </a:r>
            <a:endParaRPr lang="en-US" sz="1050" dirty="0"/>
          </a:p>
        </p:txBody>
      </p:sp>
      <p:sp>
        <p:nvSpPr>
          <p:cNvPr id="18" name="Shape 13"/>
          <p:cNvSpPr/>
          <p:nvPr/>
        </p:nvSpPr>
        <p:spPr>
          <a:xfrm>
            <a:off x="457200" y="3255264"/>
            <a:ext cx="3986784" cy="1481328"/>
          </a:xfrm>
          <a:prstGeom prst="roundRect">
            <a:avLst>
              <a:gd name="adj" fmla="val 493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9" name="Shape 14"/>
          <p:cNvSpPr/>
          <p:nvPr/>
        </p:nvSpPr>
        <p:spPr>
          <a:xfrm>
            <a:off x="676656" y="3721608"/>
            <a:ext cx="548640" cy="548640"/>
          </a:xfrm>
          <a:prstGeom prst="ellipse">
            <a:avLst/>
          </a:prstGeom>
          <a:solidFill>
            <a:srgbClr val="FF385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808330" y="3853282"/>
            <a:ext cx="285293" cy="285293"/>
          </a:xfrm>
          <a:prstGeom prst="rect">
            <a:avLst/>
          </a:prstGeom>
        </p:spPr>
      </p:pic>
      <p:sp>
        <p:nvSpPr>
          <p:cNvPr id="21" name="Text 15"/>
          <p:cNvSpPr/>
          <p:nvPr/>
        </p:nvSpPr>
        <p:spPr>
          <a:xfrm>
            <a:off x="1389888" y="3438144"/>
            <a:ext cx="2843784" cy="320040"/>
          </a:xfrm>
          <a:prstGeom prst="rect">
            <a:avLst/>
          </a:prstGeom>
          <a:noFill/>
          <a:ln/>
        </p:spPr>
        <p:txBody>
          <a:bodyPr wrap="square" lIns="0" tIns="0" rIns="0" bIns="0" rtlCol="0" anchor="ctr"/>
          <a:lstStyle/>
          <a:p>
            <a:pPr marL="0" indent="0">
              <a:buNone/>
            </a:pPr>
            <a:r>
              <a:rPr lang="en-US" sz="1400" b="1" dirty="0">
                <a:solidFill>
                  <a:srgbClr val="191919"/>
                </a:solidFill>
                <a:latin typeface="Cambria" pitchFamily="34" charset="0"/>
                <a:ea typeface="Cambria" pitchFamily="34" charset="-122"/>
                <a:cs typeface="Cambria" pitchFamily="34" charset="-120"/>
              </a:rPr>
              <a:t>Data Types</a:t>
            </a:r>
            <a:endParaRPr lang="en-US" sz="1400" dirty="0"/>
          </a:p>
        </p:txBody>
      </p:sp>
      <p:sp>
        <p:nvSpPr>
          <p:cNvPr id="22" name="Text 16"/>
          <p:cNvSpPr/>
          <p:nvPr/>
        </p:nvSpPr>
        <p:spPr>
          <a:xfrm>
            <a:off x="1389888" y="3767328"/>
            <a:ext cx="2843784" cy="841248"/>
          </a:xfrm>
          <a:prstGeom prst="rect">
            <a:avLst/>
          </a:prstGeom>
          <a:noFill/>
          <a:ln/>
        </p:spPr>
        <p:txBody>
          <a:bodyPr wrap="square" lIns="0" tIns="0" rIns="0" bIns="0" rtlCol="0" anchor="ctr"/>
          <a:lstStyle/>
          <a:p>
            <a:pPr marL="0" indent="0">
              <a:lnSpc>
                <a:spcPct val="115000"/>
              </a:lnSpc>
              <a:buNone/>
            </a:pPr>
            <a:r>
              <a:rPr lang="en-US" sz="1050" dirty="0">
                <a:solidFill>
                  <a:srgbClr val="717171"/>
                </a:solidFill>
                <a:latin typeface="Calibri" pitchFamily="34" charset="0"/>
                <a:ea typeface="Calibri" pitchFamily="34" charset="-122"/>
                <a:cs typeface="Calibri" pitchFamily="34" charset="-120"/>
              </a:rPr>
              <a:t>Corrected inconsistent types — prices as text, dates as strings — to enable accurate numerical and time-based analysis.</a:t>
            </a:r>
            <a:endParaRPr lang="en-US" sz="1050" dirty="0"/>
          </a:p>
        </p:txBody>
      </p:sp>
      <p:sp>
        <p:nvSpPr>
          <p:cNvPr id="23" name="Shape 17"/>
          <p:cNvSpPr/>
          <p:nvPr/>
        </p:nvSpPr>
        <p:spPr>
          <a:xfrm>
            <a:off x="4700016" y="3255264"/>
            <a:ext cx="3986784" cy="1481328"/>
          </a:xfrm>
          <a:prstGeom prst="roundRect">
            <a:avLst>
              <a:gd name="adj" fmla="val 493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4" name="Shape 18"/>
          <p:cNvSpPr/>
          <p:nvPr/>
        </p:nvSpPr>
        <p:spPr>
          <a:xfrm>
            <a:off x="4919472" y="3721608"/>
            <a:ext cx="548640" cy="548640"/>
          </a:xfrm>
          <a:prstGeom prst="ellipse">
            <a:avLst/>
          </a:prstGeom>
          <a:solidFill>
            <a:srgbClr val="FF385C"/>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5051146" y="3853282"/>
            <a:ext cx="285293" cy="285293"/>
          </a:xfrm>
          <a:prstGeom prst="rect">
            <a:avLst/>
          </a:prstGeom>
        </p:spPr>
      </p:pic>
      <p:sp>
        <p:nvSpPr>
          <p:cNvPr id="26" name="Text 19"/>
          <p:cNvSpPr/>
          <p:nvPr/>
        </p:nvSpPr>
        <p:spPr>
          <a:xfrm>
            <a:off x="5632704" y="3438144"/>
            <a:ext cx="2843784" cy="320040"/>
          </a:xfrm>
          <a:prstGeom prst="rect">
            <a:avLst/>
          </a:prstGeom>
          <a:noFill/>
          <a:ln/>
        </p:spPr>
        <p:txBody>
          <a:bodyPr wrap="square" lIns="0" tIns="0" rIns="0" bIns="0" rtlCol="0" anchor="ctr"/>
          <a:lstStyle/>
          <a:p>
            <a:pPr marL="0" indent="0">
              <a:buNone/>
            </a:pPr>
            <a:r>
              <a:rPr lang="en-US" sz="1400" b="1" dirty="0">
                <a:solidFill>
                  <a:srgbClr val="191919"/>
                </a:solidFill>
                <a:latin typeface="Cambria" pitchFamily="34" charset="0"/>
                <a:ea typeface="Cambria" pitchFamily="34" charset="-122"/>
                <a:cs typeface="Cambria" pitchFamily="34" charset="-120"/>
              </a:rPr>
              <a:t>Quality Improvements</a:t>
            </a:r>
            <a:endParaRPr lang="en-US" sz="1400" dirty="0"/>
          </a:p>
        </p:txBody>
      </p:sp>
      <p:sp>
        <p:nvSpPr>
          <p:cNvPr id="27" name="Text 20"/>
          <p:cNvSpPr/>
          <p:nvPr/>
        </p:nvSpPr>
        <p:spPr>
          <a:xfrm>
            <a:off x="5632704" y="3767328"/>
            <a:ext cx="2843784" cy="841248"/>
          </a:xfrm>
          <a:prstGeom prst="rect">
            <a:avLst/>
          </a:prstGeom>
          <a:noFill/>
          <a:ln/>
        </p:spPr>
        <p:txBody>
          <a:bodyPr wrap="square" lIns="0" tIns="0" rIns="0" bIns="0" rtlCol="0" anchor="ctr"/>
          <a:lstStyle/>
          <a:p>
            <a:pPr marL="0" indent="0">
              <a:lnSpc>
                <a:spcPct val="115000"/>
              </a:lnSpc>
              <a:buNone/>
            </a:pPr>
            <a:r>
              <a:rPr lang="en-US" sz="1050" dirty="0">
                <a:solidFill>
                  <a:srgbClr val="717171"/>
                </a:solidFill>
                <a:latin typeface="Calibri" pitchFamily="34" charset="0"/>
                <a:ea typeface="Calibri" pitchFamily="34" charset="-122"/>
                <a:cs typeface="Calibri" pitchFamily="34" charset="-120"/>
              </a:rPr>
              <a:t>Standardized categorical values and validated ranges, raising the dataset from raw export to analysis-ready.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04 · MODELING</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Feature Engineering</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05</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457200" y="1481328"/>
            <a:ext cx="2596896" cy="1572768"/>
          </a:xfrm>
          <a:prstGeom prst="roundRect">
            <a:avLst>
              <a:gd name="adj" fmla="val 465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58368" y="1664208"/>
            <a:ext cx="457200" cy="457200"/>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68096" y="1773936"/>
            <a:ext cx="237744" cy="237744"/>
          </a:xfrm>
          <a:prstGeom prst="rect">
            <a:avLst/>
          </a:prstGeom>
        </p:spPr>
      </p:pic>
      <p:sp>
        <p:nvSpPr>
          <p:cNvPr id="11" name="Text 7"/>
          <p:cNvSpPr/>
          <p:nvPr/>
        </p:nvSpPr>
        <p:spPr>
          <a:xfrm>
            <a:off x="658368" y="2212848"/>
            <a:ext cx="2194560" cy="29260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Price Category</a:t>
            </a:r>
            <a:endParaRPr lang="en-US" sz="1250" dirty="0"/>
          </a:p>
        </p:txBody>
      </p:sp>
      <p:sp>
        <p:nvSpPr>
          <p:cNvPr id="12" name="Text 8"/>
          <p:cNvSpPr/>
          <p:nvPr/>
        </p:nvSpPr>
        <p:spPr>
          <a:xfrm>
            <a:off x="658368" y="2487168"/>
            <a:ext cx="2194560" cy="475488"/>
          </a:xfrm>
          <a:prstGeom prst="rect">
            <a:avLst/>
          </a:prstGeom>
          <a:noFill/>
          <a:ln/>
        </p:spPr>
        <p:txBody>
          <a:bodyPr wrap="square" lIns="0" tIns="0" rIns="0" bIns="0" rtlCol="0" anchor="ctr"/>
          <a:lstStyle/>
          <a:p>
            <a:pPr marL="0" indent="0">
              <a:lnSpc>
                <a:spcPct val="112000"/>
              </a:lnSpc>
              <a:buNone/>
            </a:pPr>
            <a:r>
              <a:rPr lang="en-US" sz="900" dirty="0">
                <a:solidFill>
                  <a:srgbClr val="717171"/>
                </a:solidFill>
                <a:latin typeface="Calibri" pitchFamily="34" charset="0"/>
                <a:ea typeface="Calibri" pitchFamily="34" charset="-122"/>
                <a:cs typeface="Calibri" pitchFamily="34" charset="-120"/>
              </a:rPr>
              <a:t>Groups listings into Budget / Mid / Premium tiers for fast comparative pricing analysis.</a:t>
            </a:r>
            <a:endParaRPr lang="en-US" sz="900" dirty="0"/>
          </a:p>
        </p:txBody>
      </p:sp>
      <p:sp>
        <p:nvSpPr>
          <p:cNvPr id="13" name="Shape 9"/>
          <p:cNvSpPr/>
          <p:nvPr/>
        </p:nvSpPr>
        <p:spPr>
          <a:xfrm>
            <a:off x="3273552" y="1481328"/>
            <a:ext cx="2596896" cy="1572768"/>
          </a:xfrm>
          <a:prstGeom prst="roundRect">
            <a:avLst>
              <a:gd name="adj" fmla="val 465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4" name="Shape 10"/>
          <p:cNvSpPr/>
          <p:nvPr/>
        </p:nvSpPr>
        <p:spPr>
          <a:xfrm>
            <a:off x="3474720" y="1664208"/>
            <a:ext cx="457200" cy="457200"/>
          </a:xfrm>
          <a:prstGeom prst="ellipse">
            <a:avLst/>
          </a:prstGeom>
          <a:solidFill>
            <a:srgbClr val="FF385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584448" y="1773936"/>
            <a:ext cx="237744" cy="237744"/>
          </a:xfrm>
          <a:prstGeom prst="rect">
            <a:avLst/>
          </a:prstGeom>
        </p:spPr>
      </p:pic>
      <p:sp>
        <p:nvSpPr>
          <p:cNvPr id="16" name="Text 11"/>
          <p:cNvSpPr/>
          <p:nvPr/>
        </p:nvSpPr>
        <p:spPr>
          <a:xfrm>
            <a:off x="3474720" y="2212848"/>
            <a:ext cx="2194560" cy="29260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Property Size</a:t>
            </a:r>
            <a:endParaRPr lang="en-US" sz="1250" dirty="0"/>
          </a:p>
        </p:txBody>
      </p:sp>
      <p:sp>
        <p:nvSpPr>
          <p:cNvPr id="17" name="Text 12"/>
          <p:cNvSpPr/>
          <p:nvPr/>
        </p:nvSpPr>
        <p:spPr>
          <a:xfrm>
            <a:off x="3474720" y="2487168"/>
            <a:ext cx="2194560" cy="475488"/>
          </a:xfrm>
          <a:prstGeom prst="rect">
            <a:avLst/>
          </a:prstGeom>
          <a:noFill/>
          <a:ln/>
        </p:spPr>
        <p:txBody>
          <a:bodyPr wrap="square" lIns="0" tIns="0" rIns="0" bIns="0" rtlCol="0" anchor="ctr"/>
          <a:lstStyle/>
          <a:p>
            <a:pPr marL="0" indent="0">
              <a:lnSpc>
                <a:spcPct val="112000"/>
              </a:lnSpc>
              <a:buNone/>
            </a:pPr>
            <a:r>
              <a:rPr lang="en-US" sz="900" dirty="0">
                <a:solidFill>
                  <a:srgbClr val="717171"/>
                </a:solidFill>
                <a:latin typeface="Calibri" pitchFamily="34" charset="0"/>
                <a:ea typeface="Calibri" pitchFamily="34" charset="-122"/>
                <a:cs typeface="Calibri" pitchFamily="34" charset="-120"/>
              </a:rPr>
              <a:t>Classifies listings by capacity/rooms to isolate size as a revenue driver.</a:t>
            </a:r>
            <a:endParaRPr lang="en-US" sz="900" dirty="0"/>
          </a:p>
        </p:txBody>
      </p:sp>
      <p:sp>
        <p:nvSpPr>
          <p:cNvPr id="18" name="Shape 13"/>
          <p:cNvSpPr/>
          <p:nvPr/>
        </p:nvSpPr>
        <p:spPr>
          <a:xfrm>
            <a:off x="6089904" y="1481328"/>
            <a:ext cx="2596896" cy="1572768"/>
          </a:xfrm>
          <a:prstGeom prst="roundRect">
            <a:avLst>
              <a:gd name="adj" fmla="val 465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9" name="Shape 14"/>
          <p:cNvSpPr/>
          <p:nvPr/>
        </p:nvSpPr>
        <p:spPr>
          <a:xfrm>
            <a:off x="6291072" y="1664208"/>
            <a:ext cx="457200" cy="457200"/>
          </a:xfrm>
          <a:prstGeom prst="ellipse">
            <a:avLst/>
          </a:prstGeom>
          <a:solidFill>
            <a:srgbClr val="FF385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400800" y="1773936"/>
            <a:ext cx="237744" cy="237744"/>
          </a:xfrm>
          <a:prstGeom prst="rect">
            <a:avLst/>
          </a:prstGeom>
        </p:spPr>
      </p:pic>
      <p:sp>
        <p:nvSpPr>
          <p:cNvPr id="21" name="Text 15"/>
          <p:cNvSpPr/>
          <p:nvPr/>
        </p:nvSpPr>
        <p:spPr>
          <a:xfrm>
            <a:off x="6291072" y="2212848"/>
            <a:ext cx="2194560" cy="29260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Guest Group</a:t>
            </a:r>
            <a:endParaRPr lang="en-US" sz="1250" dirty="0"/>
          </a:p>
        </p:txBody>
      </p:sp>
      <p:sp>
        <p:nvSpPr>
          <p:cNvPr id="22" name="Text 16"/>
          <p:cNvSpPr/>
          <p:nvPr/>
        </p:nvSpPr>
        <p:spPr>
          <a:xfrm>
            <a:off x="6291072" y="2487168"/>
            <a:ext cx="2194560" cy="475488"/>
          </a:xfrm>
          <a:prstGeom prst="rect">
            <a:avLst/>
          </a:prstGeom>
          <a:noFill/>
          <a:ln/>
        </p:spPr>
        <p:txBody>
          <a:bodyPr wrap="square" lIns="0" tIns="0" rIns="0" bIns="0" rtlCol="0" anchor="ctr"/>
          <a:lstStyle/>
          <a:p>
            <a:pPr marL="0" indent="0">
              <a:lnSpc>
                <a:spcPct val="112000"/>
              </a:lnSpc>
              <a:buNone/>
            </a:pPr>
            <a:r>
              <a:rPr lang="en-US" sz="900" dirty="0">
                <a:solidFill>
                  <a:srgbClr val="717171"/>
                </a:solidFill>
                <a:latin typeface="Calibri" pitchFamily="34" charset="0"/>
                <a:ea typeface="Calibri" pitchFamily="34" charset="-122"/>
                <a:cs typeface="Calibri" pitchFamily="34" charset="-120"/>
              </a:rPr>
              <a:t>Segments by party size (solo, couple, family, group) to match demand patterns.</a:t>
            </a:r>
            <a:endParaRPr lang="en-US" sz="900" dirty="0"/>
          </a:p>
        </p:txBody>
      </p:sp>
      <p:sp>
        <p:nvSpPr>
          <p:cNvPr id="23" name="Shape 17"/>
          <p:cNvSpPr/>
          <p:nvPr/>
        </p:nvSpPr>
        <p:spPr>
          <a:xfrm>
            <a:off x="457200" y="3236976"/>
            <a:ext cx="2596896" cy="1572768"/>
          </a:xfrm>
          <a:prstGeom prst="roundRect">
            <a:avLst>
              <a:gd name="adj" fmla="val 465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4" name="Shape 18"/>
          <p:cNvSpPr/>
          <p:nvPr/>
        </p:nvSpPr>
        <p:spPr>
          <a:xfrm>
            <a:off x="658368" y="3419856"/>
            <a:ext cx="457200" cy="457200"/>
          </a:xfrm>
          <a:prstGeom prst="ellipse">
            <a:avLst/>
          </a:prstGeom>
          <a:solidFill>
            <a:srgbClr val="FF385C"/>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768096" y="3529584"/>
            <a:ext cx="237744" cy="237744"/>
          </a:xfrm>
          <a:prstGeom prst="rect">
            <a:avLst/>
          </a:prstGeom>
        </p:spPr>
      </p:pic>
      <p:sp>
        <p:nvSpPr>
          <p:cNvPr id="26" name="Text 19"/>
          <p:cNvSpPr/>
          <p:nvPr/>
        </p:nvSpPr>
        <p:spPr>
          <a:xfrm>
            <a:off x="658368" y="3968496"/>
            <a:ext cx="2194560" cy="29260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Distance Category</a:t>
            </a:r>
            <a:endParaRPr lang="en-US" sz="1250" dirty="0"/>
          </a:p>
        </p:txBody>
      </p:sp>
      <p:sp>
        <p:nvSpPr>
          <p:cNvPr id="27" name="Text 20"/>
          <p:cNvSpPr/>
          <p:nvPr/>
        </p:nvSpPr>
        <p:spPr>
          <a:xfrm>
            <a:off x="658368" y="4242816"/>
            <a:ext cx="2194560" cy="475488"/>
          </a:xfrm>
          <a:prstGeom prst="rect">
            <a:avLst/>
          </a:prstGeom>
          <a:noFill/>
          <a:ln/>
        </p:spPr>
        <p:txBody>
          <a:bodyPr wrap="square" lIns="0" tIns="0" rIns="0" bIns="0" rtlCol="0" anchor="ctr"/>
          <a:lstStyle/>
          <a:p>
            <a:pPr marL="0" indent="0">
              <a:lnSpc>
                <a:spcPct val="112000"/>
              </a:lnSpc>
              <a:buNone/>
            </a:pPr>
            <a:r>
              <a:rPr lang="en-US" sz="900" dirty="0">
                <a:solidFill>
                  <a:srgbClr val="717171"/>
                </a:solidFill>
                <a:latin typeface="Calibri" pitchFamily="34" charset="0"/>
                <a:ea typeface="Calibri" pitchFamily="34" charset="-122"/>
                <a:cs typeface="Calibri" pitchFamily="34" charset="-120"/>
              </a:rPr>
              <a:t>Bands listings by proximity to city center, a key driver of pricing power.</a:t>
            </a:r>
            <a:endParaRPr lang="en-US" sz="900" dirty="0"/>
          </a:p>
        </p:txBody>
      </p:sp>
      <p:sp>
        <p:nvSpPr>
          <p:cNvPr id="28" name="Shape 21"/>
          <p:cNvSpPr/>
          <p:nvPr/>
        </p:nvSpPr>
        <p:spPr>
          <a:xfrm>
            <a:off x="3273552" y="3236976"/>
            <a:ext cx="2596896" cy="1572768"/>
          </a:xfrm>
          <a:prstGeom prst="roundRect">
            <a:avLst>
              <a:gd name="adj" fmla="val 465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9" name="Shape 22"/>
          <p:cNvSpPr/>
          <p:nvPr/>
        </p:nvSpPr>
        <p:spPr>
          <a:xfrm>
            <a:off x="3474720" y="3419856"/>
            <a:ext cx="457200" cy="457200"/>
          </a:xfrm>
          <a:prstGeom prst="ellipse">
            <a:avLst/>
          </a:prstGeom>
          <a:solidFill>
            <a:srgbClr val="FF385C"/>
          </a:solidFill>
          <a:ln/>
        </p:spPr>
        <p:txBody>
          <a:bodyPr/>
          <a:lstStyle/>
          <a:p>
            <a:endParaRPr lang="en-US"/>
          </a:p>
        </p:txBody>
      </p:sp>
      <p:pic>
        <p:nvPicPr>
          <p:cNvPr id="30" name="Image 5" descr="preencoded.png"/>
          <p:cNvPicPr>
            <a:picLocks noChangeAspect="1"/>
          </p:cNvPicPr>
          <p:nvPr/>
        </p:nvPicPr>
        <p:blipFill>
          <a:blip r:embed="rId8"/>
          <a:stretch>
            <a:fillRect/>
          </a:stretch>
        </p:blipFill>
        <p:spPr>
          <a:xfrm>
            <a:off x="3584448" y="3529584"/>
            <a:ext cx="237744" cy="237744"/>
          </a:xfrm>
          <a:prstGeom prst="rect">
            <a:avLst/>
          </a:prstGeom>
        </p:spPr>
      </p:pic>
      <p:sp>
        <p:nvSpPr>
          <p:cNvPr id="31" name="Text 23"/>
          <p:cNvSpPr/>
          <p:nvPr/>
        </p:nvSpPr>
        <p:spPr>
          <a:xfrm>
            <a:off x="3474720" y="3968496"/>
            <a:ext cx="2194560" cy="29260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Premium Location</a:t>
            </a:r>
            <a:endParaRPr lang="en-US" sz="1250" dirty="0"/>
          </a:p>
        </p:txBody>
      </p:sp>
      <p:sp>
        <p:nvSpPr>
          <p:cNvPr id="32" name="Text 24"/>
          <p:cNvSpPr/>
          <p:nvPr/>
        </p:nvSpPr>
        <p:spPr>
          <a:xfrm>
            <a:off x="3474720" y="4242816"/>
            <a:ext cx="2194560" cy="475488"/>
          </a:xfrm>
          <a:prstGeom prst="rect">
            <a:avLst/>
          </a:prstGeom>
          <a:noFill/>
          <a:ln/>
        </p:spPr>
        <p:txBody>
          <a:bodyPr wrap="square" lIns="0" tIns="0" rIns="0" bIns="0" rtlCol="0" anchor="ctr"/>
          <a:lstStyle/>
          <a:p>
            <a:pPr marL="0" indent="0">
              <a:lnSpc>
                <a:spcPct val="112000"/>
              </a:lnSpc>
              <a:buNone/>
            </a:pPr>
            <a:r>
              <a:rPr lang="en-US" sz="900" dirty="0">
                <a:solidFill>
                  <a:srgbClr val="717171"/>
                </a:solidFill>
                <a:latin typeface="Calibri" pitchFamily="34" charset="0"/>
                <a:ea typeface="Calibri" pitchFamily="34" charset="-122"/>
                <a:cs typeface="Calibri" pitchFamily="34" charset="-120"/>
              </a:rPr>
              <a:t>Flags listings in top-tier neighborhoods to quantify a location premium.</a:t>
            </a:r>
            <a:endParaRPr lang="en-US" sz="900" dirty="0"/>
          </a:p>
        </p:txBody>
      </p:sp>
      <p:sp>
        <p:nvSpPr>
          <p:cNvPr id="33" name="Shape 25"/>
          <p:cNvSpPr/>
          <p:nvPr/>
        </p:nvSpPr>
        <p:spPr>
          <a:xfrm>
            <a:off x="6089904" y="3236976"/>
            <a:ext cx="2596896" cy="1572768"/>
          </a:xfrm>
          <a:prstGeom prst="roundRect">
            <a:avLst>
              <a:gd name="adj" fmla="val 465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34" name="Shape 26"/>
          <p:cNvSpPr/>
          <p:nvPr/>
        </p:nvSpPr>
        <p:spPr>
          <a:xfrm>
            <a:off x="6291072" y="3419856"/>
            <a:ext cx="457200" cy="457200"/>
          </a:xfrm>
          <a:prstGeom prst="ellipse">
            <a:avLst/>
          </a:prstGeom>
          <a:solidFill>
            <a:srgbClr val="FF385C"/>
          </a:solidFill>
          <a:ln/>
        </p:spPr>
        <p:txBody>
          <a:bodyPr/>
          <a:lstStyle/>
          <a:p>
            <a:endParaRPr lang="en-US"/>
          </a:p>
        </p:txBody>
      </p:sp>
      <p:pic>
        <p:nvPicPr>
          <p:cNvPr id="35" name="Image 6" descr="preencoded.png"/>
          <p:cNvPicPr>
            <a:picLocks noChangeAspect="1"/>
          </p:cNvPicPr>
          <p:nvPr/>
        </p:nvPicPr>
        <p:blipFill>
          <a:blip r:embed="rId9"/>
          <a:stretch>
            <a:fillRect/>
          </a:stretch>
        </p:blipFill>
        <p:spPr>
          <a:xfrm>
            <a:off x="6400800" y="3529584"/>
            <a:ext cx="237744" cy="237744"/>
          </a:xfrm>
          <a:prstGeom prst="rect">
            <a:avLst/>
          </a:prstGeom>
        </p:spPr>
      </p:pic>
      <p:sp>
        <p:nvSpPr>
          <p:cNvPr id="36" name="Text 27"/>
          <p:cNvSpPr/>
          <p:nvPr/>
        </p:nvSpPr>
        <p:spPr>
          <a:xfrm>
            <a:off x="6291072" y="3968496"/>
            <a:ext cx="2194560" cy="29260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Host Type</a:t>
            </a:r>
            <a:endParaRPr lang="en-US" sz="1250" dirty="0"/>
          </a:p>
        </p:txBody>
      </p:sp>
      <p:sp>
        <p:nvSpPr>
          <p:cNvPr id="37" name="Text 28"/>
          <p:cNvSpPr/>
          <p:nvPr/>
        </p:nvSpPr>
        <p:spPr>
          <a:xfrm>
            <a:off x="6291072" y="4242816"/>
            <a:ext cx="2194560" cy="475488"/>
          </a:xfrm>
          <a:prstGeom prst="rect">
            <a:avLst/>
          </a:prstGeom>
          <a:noFill/>
          <a:ln/>
        </p:spPr>
        <p:txBody>
          <a:bodyPr wrap="square" lIns="0" tIns="0" rIns="0" bIns="0" rtlCol="0" anchor="ctr"/>
          <a:lstStyle/>
          <a:p>
            <a:pPr marL="0" indent="0">
              <a:lnSpc>
                <a:spcPct val="112000"/>
              </a:lnSpc>
              <a:buNone/>
            </a:pPr>
            <a:r>
              <a:rPr lang="en-US" sz="900" dirty="0">
                <a:solidFill>
                  <a:srgbClr val="717171"/>
                </a:solidFill>
                <a:latin typeface="Calibri" pitchFamily="34" charset="0"/>
                <a:ea typeface="Calibri" pitchFamily="34" charset="-122"/>
                <a:cs typeface="Calibri" pitchFamily="34" charset="-120"/>
              </a:rPr>
              <a:t>Differentiates individual vs. professional/multi-listing hosts for supply analysis.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05 · ANALYSIS</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Exploratory Data Analysis</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06</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457200" y="1508760"/>
            <a:ext cx="3749040" cy="3063240"/>
          </a:xfrm>
          <a:prstGeom prst="roundRect">
            <a:avLst>
              <a:gd name="adj" fmla="val 238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94944" y="1737360"/>
            <a:ext cx="502920" cy="502920"/>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815645" y="1858061"/>
            <a:ext cx="261518" cy="261518"/>
          </a:xfrm>
          <a:prstGeom prst="rect">
            <a:avLst/>
          </a:prstGeom>
        </p:spPr>
      </p:pic>
      <p:sp>
        <p:nvSpPr>
          <p:cNvPr id="11" name="Text 7"/>
          <p:cNvSpPr/>
          <p:nvPr/>
        </p:nvSpPr>
        <p:spPr>
          <a:xfrm>
            <a:off x="1325880" y="1810512"/>
            <a:ext cx="2651760" cy="365760"/>
          </a:xfrm>
          <a:prstGeom prst="rect">
            <a:avLst/>
          </a:prstGeom>
          <a:noFill/>
          <a:ln/>
        </p:spPr>
        <p:txBody>
          <a:bodyPr wrap="square" lIns="0" tIns="0" rIns="0" bIns="0" rtlCol="0" anchor="ctr"/>
          <a:lstStyle/>
          <a:p>
            <a:pPr marL="0" indent="0">
              <a:buNone/>
            </a:pPr>
            <a:r>
              <a:rPr lang="en-US" sz="1500" b="1" dirty="0">
                <a:solidFill>
                  <a:srgbClr val="191919"/>
                </a:solidFill>
                <a:latin typeface="Cambria" pitchFamily="34" charset="0"/>
                <a:ea typeface="Cambria" pitchFamily="34" charset="-122"/>
                <a:cs typeface="Cambria" pitchFamily="34" charset="-120"/>
              </a:rPr>
              <a:t>EDA Process</a:t>
            </a:r>
            <a:endParaRPr lang="en-US" sz="1500" dirty="0"/>
          </a:p>
        </p:txBody>
      </p:sp>
      <p:sp>
        <p:nvSpPr>
          <p:cNvPr id="12" name="Text 8"/>
          <p:cNvSpPr/>
          <p:nvPr/>
        </p:nvSpPr>
        <p:spPr>
          <a:xfrm>
            <a:off x="713232" y="2331720"/>
            <a:ext cx="3236976" cy="777240"/>
          </a:xfrm>
          <a:prstGeom prst="rect">
            <a:avLst/>
          </a:prstGeom>
          <a:noFill/>
          <a:ln/>
        </p:spPr>
        <p:txBody>
          <a:bodyPr wrap="square" lIns="0" tIns="0" rIns="0" bIns="0" rtlCol="0" anchor="ctr"/>
          <a:lstStyle/>
          <a:p>
            <a:pPr marL="0" indent="0">
              <a:lnSpc>
                <a:spcPct val="120000"/>
              </a:lnSpc>
              <a:buNone/>
            </a:pPr>
            <a:r>
              <a:rPr lang="en-US" sz="1050" dirty="0">
                <a:solidFill>
                  <a:srgbClr val="717171"/>
                </a:solidFill>
                <a:latin typeface="Calibri" pitchFamily="34" charset="0"/>
                <a:ea typeface="Calibri" pitchFamily="34" charset="-122"/>
                <a:cs typeface="Calibri" pitchFamily="34" charset="-120"/>
              </a:rPr>
              <a:t>Univariate distributions, bivariate price relationships, and city-level comparisons were explored to surface the strongest business drivers before modeling.</a:t>
            </a:r>
            <a:endParaRPr lang="en-US" sz="1050" dirty="0"/>
          </a:p>
        </p:txBody>
      </p:sp>
      <p:sp>
        <p:nvSpPr>
          <p:cNvPr id="13" name="Shape 9"/>
          <p:cNvSpPr/>
          <p:nvPr/>
        </p:nvSpPr>
        <p:spPr>
          <a:xfrm>
            <a:off x="713232" y="3154680"/>
            <a:ext cx="3236976" cy="0"/>
          </a:xfrm>
          <a:prstGeom prst="line">
            <a:avLst/>
          </a:prstGeom>
          <a:noFill/>
          <a:ln w="12700">
            <a:solidFill>
              <a:srgbClr val="EBEBEB"/>
            </a:solidFill>
            <a:prstDash val="solid"/>
          </a:ln>
        </p:spPr>
        <p:txBody>
          <a:bodyPr/>
          <a:lstStyle/>
          <a:p>
            <a:endParaRPr lang="en-US"/>
          </a:p>
        </p:txBody>
      </p:sp>
      <p:sp>
        <p:nvSpPr>
          <p:cNvPr id="14" name="Text 10"/>
          <p:cNvSpPr/>
          <p:nvPr/>
        </p:nvSpPr>
        <p:spPr>
          <a:xfrm>
            <a:off x="713232" y="3246120"/>
            <a:ext cx="3236976" cy="274320"/>
          </a:xfrm>
          <a:prstGeom prst="rect">
            <a:avLst/>
          </a:prstGeom>
          <a:noFill/>
          <a:ln/>
        </p:spPr>
        <p:txBody>
          <a:bodyPr wrap="square" lIns="0" tIns="0" rIns="0" bIns="0" rtlCol="0" anchor="ctr"/>
          <a:lstStyle/>
          <a:p>
            <a:pPr marL="0" indent="0">
              <a:buNone/>
            </a:pPr>
            <a:r>
              <a:rPr lang="en-US" sz="1050" b="1" dirty="0">
                <a:solidFill>
                  <a:srgbClr val="FF385C"/>
                </a:solidFill>
                <a:latin typeface="Calibri" pitchFamily="34" charset="0"/>
                <a:ea typeface="Calibri" pitchFamily="34" charset="-122"/>
                <a:cs typeface="Calibri" pitchFamily="34" charset="-120"/>
              </a:rPr>
              <a:t>Business Questions Answered</a:t>
            </a:r>
            <a:endParaRPr lang="en-US" sz="1050" dirty="0"/>
          </a:p>
        </p:txBody>
      </p:sp>
      <p:sp>
        <p:nvSpPr>
          <p:cNvPr id="15" name="Text 11"/>
          <p:cNvSpPr/>
          <p:nvPr/>
        </p:nvSpPr>
        <p:spPr>
          <a:xfrm>
            <a:off x="713232" y="3566160"/>
            <a:ext cx="3236976" cy="914400"/>
          </a:xfrm>
          <a:prstGeom prst="rect">
            <a:avLst/>
          </a:prstGeom>
          <a:noFill/>
          <a:ln/>
        </p:spPr>
        <p:txBody>
          <a:bodyPr wrap="square" lIns="0" tIns="0" rIns="0" bIns="0" rtlCol="0" anchor="ctr"/>
          <a:lstStyle/>
          <a:p>
            <a:pPr marL="342900" indent="-342900">
              <a:lnSpc>
                <a:spcPct val="125000"/>
              </a:lnSpc>
              <a:buSzPct val="100000"/>
              <a:buChar char="•"/>
            </a:pPr>
            <a:r>
              <a:rPr lang="en-US" sz="1000" dirty="0">
                <a:solidFill>
                  <a:srgbClr val="191919"/>
                </a:solidFill>
                <a:latin typeface="Calibri" pitchFamily="34" charset="0"/>
                <a:ea typeface="Calibri" pitchFamily="34" charset="-122"/>
                <a:cs typeface="Calibri" pitchFamily="34" charset="-120"/>
              </a:rPr>
              <a:t>Which city commands the highest prices?</a:t>
            </a:r>
            <a:endParaRPr lang="en-US" sz="1000" dirty="0"/>
          </a:p>
          <a:p>
            <a:pPr marL="342900" indent="-342900">
              <a:lnSpc>
                <a:spcPct val="125000"/>
              </a:lnSpc>
              <a:buSzPct val="100000"/>
              <a:buChar char="•"/>
            </a:pPr>
            <a:r>
              <a:rPr lang="en-US" sz="1000" dirty="0">
                <a:solidFill>
                  <a:srgbClr val="191919"/>
                </a:solidFill>
                <a:latin typeface="Calibri" pitchFamily="34" charset="0"/>
                <a:ea typeface="Calibri" pitchFamily="34" charset="-122"/>
                <a:cs typeface="Calibri" pitchFamily="34" charset="-120"/>
              </a:rPr>
              <a:t>Does room type affect price more than location?</a:t>
            </a:r>
            <a:endParaRPr lang="en-US" sz="1000" dirty="0"/>
          </a:p>
          <a:p>
            <a:pPr marL="342900" indent="-342900">
              <a:lnSpc>
                <a:spcPct val="125000"/>
              </a:lnSpc>
              <a:buSzPct val="100000"/>
              <a:buChar char="•"/>
            </a:pPr>
            <a:r>
              <a:rPr lang="en-US" sz="1000" dirty="0">
                <a:solidFill>
                  <a:srgbClr val="191919"/>
                </a:solidFill>
                <a:latin typeface="Calibri" pitchFamily="34" charset="0"/>
                <a:ea typeface="Calibri" pitchFamily="34" charset="-122"/>
                <a:cs typeface="Calibri" pitchFamily="34" charset="-120"/>
              </a:rPr>
              <a:t>How do reviews relate to pricing power?</a:t>
            </a:r>
            <a:endParaRPr lang="en-US" sz="1000" dirty="0"/>
          </a:p>
        </p:txBody>
      </p:sp>
      <p:sp>
        <p:nvSpPr>
          <p:cNvPr id="16" name="Shape 12"/>
          <p:cNvSpPr/>
          <p:nvPr/>
        </p:nvSpPr>
        <p:spPr>
          <a:xfrm>
            <a:off x="4480560" y="1508760"/>
            <a:ext cx="4206240" cy="3063240"/>
          </a:xfrm>
          <a:prstGeom prst="roundRect">
            <a:avLst>
              <a:gd name="adj" fmla="val 2388"/>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7" name="Text 13"/>
          <p:cNvSpPr/>
          <p:nvPr/>
        </p:nvSpPr>
        <p:spPr>
          <a:xfrm>
            <a:off x="4709160" y="1645920"/>
            <a:ext cx="3749040" cy="274320"/>
          </a:xfrm>
          <a:prstGeom prst="rect">
            <a:avLst/>
          </a:prstGeom>
          <a:noFill/>
          <a:ln/>
        </p:spPr>
        <p:txBody>
          <a:bodyPr wrap="square" lIns="0" tIns="0" rIns="0" bIns="0" rtlCol="0" anchor="ctr"/>
          <a:lstStyle/>
          <a:p>
            <a:pPr marL="0" indent="0">
              <a:buNone/>
            </a:pPr>
            <a:r>
              <a:rPr lang="en-US" sz="1050" b="1" dirty="0">
                <a:solidFill>
                  <a:srgbClr val="191919"/>
                </a:solidFill>
                <a:latin typeface="Calibri" pitchFamily="34" charset="0"/>
                <a:ea typeface="Calibri" pitchFamily="34" charset="-122"/>
                <a:cs typeface="Calibri" pitchFamily="34" charset="-120"/>
              </a:rPr>
              <a:t>Avg. Price by City (EUR / night)</a:t>
            </a:r>
            <a:endParaRPr lang="en-US" sz="1050" dirty="0"/>
          </a:p>
        </p:txBody>
      </p:sp>
      <p:graphicFrame>
        <p:nvGraphicFramePr>
          <p:cNvPr id="18" name="Chart 0"/>
          <p:cNvGraphicFramePr/>
          <p:nvPr/>
        </p:nvGraphicFramePr>
        <p:xfrm>
          <a:off x="4617720" y="1920240"/>
          <a:ext cx="3931920" cy="25146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06 · DATA MODELING</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SQL Data Warehouse</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07</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1965960" y="2674620"/>
            <a:ext cx="1737360" cy="777240"/>
          </a:xfrm>
          <a:prstGeom prst="roundRect">
            <a:avLst>
              <a:gd name="adj" fmla="val 9412"/>
            </a:avLst>
          </a:prstGeom>
          <a:solidFill>
            <a:srgbClr val="FF385C"/>
          </a:solidFill>
          <a:ln/>
          <a:effectLst>
            <a:outerShdw blurRad="101600" dist="38100" dir="2700000" algn="bl" rotWithShape="0">
              <a:srgbClr val="000000">
                <a:alpha val="12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2093976" y="2916936"/>
            <a:ext cx="292608" cy="292608"/>
          </a:xfrm>
          <a:prstGeom prst="rect">
            <a:avLst/>
          </a:prstGeom>
        </p:spPr>
      </p:pic>
      <p:sp>
        <p:nvSpPr>
          <p:cNvPr id="10" name="Text 6"/>
          <p:cNvSpPr/>
          <p:nvPr/>
        </p:nvSpPr>
        <p:spPr>
          <a:xfrm>
            <a:off x="2423160" y="2898648"/>
            <a:ext cx="1188720" cy="32918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FACT_LISTINGS</a:t>
            </a:r>
            <a:endParaRPr lang="en-US" sz="1100" dirty="0"/>
          </a:p>
        </p:txBody>
      </p:sp>
      <p:sp>
        <p:nvSpPr>
          <p:cNvPr id="11" name="Shape 7"/>
          <p:cNvSpPr/>
          <p:nvPr/>
        </p:nvSpPr>
        <p:spPr>
          <a:xfrm>
            <a:off x="2834640" y="1746504"/>
            <a:ext cx="0" cy="1600200"/>
          </a:xfrm>
          <a:prstGeom prst="line">
            <a:avLst/>
          </a:prstGeom>
          <a:noFill/>
          <a:ln w="19050">
            <a:solidFill>
              <a:srgbClr val="EBEBEB"/>
            </a:solidFill>
            <a:prstDash val="solid"/>
          </a:ln>
        </p:spPr>
        <p:txBody>
          <a:bodyPr/>
          <a:lstStyle/>
          <a:p>
            <a:endParaRPr lang="en-US"/>
          </a:p>
        </p:txBody>
      </p:sp>
      <p:sp>
        <p:nvSpPr>
          <p:cNvPr id="12" name="Shape 8"/>
          <p:cNvSpPr/>
          <p:nvPr/>
        </p:nvSpPr>
        <p:spPr>
          <a:xfrm>
            <a:off x="2834640" y="2660904"/>
            <a:ext cx="1874520" cy="685800"/>
          </a:xfrm>
          <a:prstGeom prst="line">
            <a:avLst/>
          </a:prstGeom>
          <a:noFill/>
          <a:ln w="19050">
            <a:solidFill>
              <a:srgbClr val="EBEBEB"/>
            </a:solidFill>
            <a:prstDash val="solid"/>
          </a:ln>
        </p:spPr>
        <p:txBody>
          <a:bodyPr/>
          <a:lstStyle/>
          <a:p>
            <a:endParaRPr lang="en-US"/>
          </a:p>
        </p:txBody>
      </p:sp>
      <p:sp>
        <p:nvSpPr>
          <p:cNvPr id="13" name="Shape 9"/>
          <p:cNvSpPr/>
          <p:nvPr/>
        </p:nvSpPr>
        <p:spPr>
          <a:xfrm>
            <a:off x="2834640" y="3063240"/>
            <a:ext cx="1874520" cy="685800"/>
          </a:xfrm>
          <a:prstGeom prst="line">
            <a:avLst/>
          </a:prstGeom>
          <a:noFill/>
          <a:ln w="19050">
            <a:solidFill>
              <a:srgbClr val="EBEBEB"/>
            </a:solidFill>
            <a:prstDash val="solid"/>
          </a:ln>
        </p:spPr>
        <p:txBody>
          <a:bodyPr/>
          <a:lstStyle/>
          <a:p>
            <a:endParaRPr lang="en-US"/>
          </a:p>
        </p:txBody>
      </p:sp>
      <p:sp>
        <p:nvSpPr>
          <p:cNvPr id="14" name="Shape 10"/>
          <p:cNvSpPr/>
          <p:nvPr/>
        </p:nvSpPr>
        <p:spPr>
          <a:xfrm>
            <a:off x="2834640" y="3063240"/>
            <a:ext cx="0" cy="1417320"/>
          </a:xfrm>
          <a:prstGeom prst="line">
            <a:avLst/>
          </a:prstGeom>
          <a:noFill/>
          <a:ln w="19050">
            <a:solidFill>
              <a:srgbClr val="EBEBEB"/>
            </a:solidFill>
            <a:prstDash val="solid"/>
          </a:ln>
        </p:spPr>
        <p:txBody>
          <a:bodyPr/>
          <a:lstStyle/>
          <a:p>
            <a:endParaRPr lang="en-US"/>
          </a:p>
        </p:txBody>
      </p:sp>
      <p:sp>
        <p:nvSpPr>
          <p:cNvPr id="15" name="Shape 11"/>
          <p:cNvSpPr/>
          <p:nvPr/>
        </p:nvSpPr>
        <p:spPr>
          <a:xfrm>
            <a:off x="2103120" y="1179576"/>
            <a:ext cx="1463040" cy="566928"/>
          </a:xfrm>
          <a:prstGeom prst="roundRect">
            <a:avLst>
              <a:gd name="adj" fmla="val 11290"/>
            </a:avLst>
          </a:prstGeom>
          <a:solidFill>
            <a:srgbClr val="FFFFFF"/>
          </a:solidFill>
          <a:ln w="12700">
            <a:solidFill>
              <a:srgbClr val="EBEBEB"/>
            </a:solidFill>
            <a:prstDash val="solid"/>
          </a:ln>
          <a:effectLst>
            <a:outerShdw blurRad="101600" dist="38100" dir="2700000" algn="bl" rotWithShape="0">
              <a:srgbClr val="000000">
                <a:alpha val="12000"/>
              </a:srgbClr>
            </a:outerShdw>
          </a:effectLst>
        </p:spPr>
        <p:txBody>
          <a:bodyPr/>
          <a:lstStyle/>
          <a:p>
            <a:endParaRPr lang="en-US"/>
          </a:p>
        </p:txBody>
      </p:sp>
      <p:sp>
        <p:nvSpPr>
          <p:cNvPr id="16" name="Text 12"/>
          <p:cNvSpPr/>
          <p:nvPr/>
        </p:nvSpPr>
        <p:spPr>
          <a:xfrm>
            <a:off x="2103120" y="1179576"/>
            <a:ext cx="1463040" cy="566928"/>
          </a:xfrm>
          <a:prstGeom prst="rect">
            <a:avLst/>
          </a:prstGeom>
          <a:noFill/>
          <a:ln/>
        </p:spPr>
        <p:txBody>
          <a:bodyPr wrap="square" lIns="0" tIns="0" rIns="0" bIns="0" rtlCol="0" anchor="ctr"/>
          <a:lstStyle/>
          <a:p>
            <a:pPr marL="0" indent="0" algn="ctr">
              <a:buNone/>
            </a:pPr>
            <a:r>
              <a:rPr lang="en-US" sz="950" b="1" dirty="0">
                <a:solidFill>
                  <a:srgbClr val="191919"/>
                </a:solidFill>
                <a:latin typeface="Calibri" pitchFamily="34" charset="0"/>
                <a:ea typeface="Calibri" pitchFamily="34" charset="-122"/>
                <a:cs typeface="Calibri" pitchFamily="34" charset="-120"/>
              </a:rPr>
              <a:t>DIM_LOCATION</a:t>
            </a:r>
            <a:endParaRPr lang="en-US" sz="950" dirty="0"/>
          </a:p>
        </p:txBody>
      </p:sp>
      <p:sp>
        <p:nvSpPr>
          <p:cNvPr id="17" name="Shape 13"/>
          <p:cNvSpPr/>
          <p:nvPr/>
        </p:nvSpPr>
        <p:spPr>
          <a:xfrm>
            <a:off x="3977640" y="2093976"/>
            <a:ext cx="1463040" cy="566928"/>
          </a:xfrm>
          <a:prstGeom prst="roundRect">
            <a:avLst>
              <a:gd name="adj" fmla="val 11290"/>
            </a:avLst>
          </a:prstGeom>
          <a:solidFill>
            <a:srgbClr val="FFFFFF"/>
          </a:solidFill>
          <a:ln w="12700">
            <a:solidFill>
              <a:srgbClr val="EBEBEB"/>
            </a:solidFill>
            <a:prstDash val="solid"/>
          </a:ln>
          <a:effectLst>
            <a:outerShdw blurRad="101600" dist="38100" dir="2700000" algn="bl" rotWithShape="0">
              <a:srgbClr val="000000">
                <a:alpha val="12000"/>
              </a:srgbClr>
            </a:outerShdw>
          </a:effectLst>
        </p:spPr>
        <p:txBody>
          <a:bodyPr/>
          <a:lstStyle/>
          <a:p>
            <a:endParaRPr lang="en-US"/>
          </a:p>
        </p:txBody>
      </p:sp>
      <p:sp>
        <p:nvSpPr>
          <p:cNvPr id="18" name="Text 14"/>
          <p:cNvSpPr/>
          <p:nvPr/>
        </p:nvSpPr>
        <p:spPr>
          <a:xfrm>
            <a:off x="3977640" y="2093976"/>
            <a:ext cx="1463040" cy="566928"/>
          </a:xfrm>
          <a:prstGeom prst="rect">
            <a:avLst/>
          </a:prstGeom>
          <a:noFill/>
          <a:ln/>
        </p:spPr>
        <p:txBody>
          <a:bodyPr wrap="square" lIns="0" tIns="0" rIns="0" bIns="0" rtlCol="0" anchor="ctr"/>
          <a:lstStyle/>
          <a:p>
            <a:pPr marL="0" indent="0" algn="ctr">
              <a:buNone/>
            </a:pPr>
            <a:r>
              <a:rPr lang="en-US" sz="950" b="1" dirty="0">
                <a:solidFill>
                  <a:srgbClr val="191919"/>
                </a:solidFill>
                <a:latin typeface="Calibri" pitchFamily="34" charset="0"/>
                <a:ea typeface="Calibri" pitchFamily="34" charset="-122"/>
                <a:cs typeface="Calibri" pitchFamily="34" charset="-120"/>
              </a:rPr>
              <a:t>DIM_PROPERTY</a:t>
            </a:r>
            <a:endParaRPr lang="en-US" sz="950" dirty="0"/>
          </a:p>
        </p:txBody>
      </p:sp>
      <p:sp>
        <p:nvSpPr>
          <p:cNvPr id="19" name="Shape 15"/>
          <p:cNvSpPr/>
          <p:nvPr/>
        </p:nvSpPr>
        <p:spPr>
          <a:xfrm>
            <a:off x="3977640" y="3465576"/>
            <a:ext cx="1463040" cy="566928"/>
          </a:xfrm>
          <a:prstGeom prst="roundRect">
            <a:avLst>
              <a:gd name="adj" fmla="val 11290"/>
            </a:avLst>
          </a:prstGeom>
          <a:solidFill>
            <a:srgbClr val="FFFFFF"/>
          </a:solidFill>
          <a:ln w="12700">
            <a:solidFill>
              <a:srgbClr val="EBEBEB"/>
            </a:solidFill>
            <a:prstDash val="solid"/>
          </a:ln>
          <a:effectLst>
            <a:outerShdw blurRad="101600" dist="38100" dir="2700000" algn="bl" rotWithShape="0">
              <a:srgbClr val="000000">
                <a:alpha val="12000"/>
              </a:srgbClr>
            </a:outerShdw>
          </a:effectLst>
        </p:spPr>
        <p:txBody>
          <a:bodyPr/>
          <a:lstStyle/>
          <a:p>
            <a:endParaRPr lang="en-US"/>
          </a:p>
        </p:txBody>
      </p:sp>
      <p:sp>
        <p:nvSpPr>
          <p:cNvPr id="20" name="Text 16"/>
          <p:cNvSpPr/>
          <p:nvPr/>
        </p:nvSpPr>
        <p:spPr>
          <a:xfrm>
            <a:off x="3977640" y="3465576"/>
            <a:ext cx="1463040" cy="566928"/>
          </a:xfrm>
          <a:prstGeom prst="rect">
            <a:avLst/>
          </a:prstGeom>
          <a:noFill/>
          <a:ln/>
        </p:spPr>
        <p:txBody>
          <a:bodyPr wrap="square" lIns="0" tIns="0" rIns="0" bIns="0" rtlCol="0" anchor="ctr"/>
          <a:lstStyle/>
          <a:p>
            <a:pPr marL="0" indent="0" algn="ctr">
              <a:buNone/>
            </a:pPr>
            <a:r>
              <a:rPr lang="en-US" sz="950" b="1" dirty="0">
                <a:solidFill>
                  <a:srgbClr val="191919"/>
                </a:solidFill>
                <a:latin typeface="Calibri" pitchFamily="34" charset="0"/>
                <a:ea typeface="Calibri" pitchFamily="34" charset="-122"/>
                <a:cs typeface="Calibri" pitchFamily="34" charset="-120"/>
              </a:rPr>
              <a:t>DIM_HOST</a:t>
            </a:r>
            <a:endParaRPr lang="en-US" sz="950" dirty="0"/>
          </a:p>
        </p:txBody>
      </p:sp>
      <p:sp>
        <p:nvSpPr>
          <p:cNvPr id="21" name="Shape 17"/>
          <p:cNvSpPr/>
          <p:nvPr/>
        </p:nvSpPr>
        <p:spPr>
          <a:xfrm>
            <a:off x="2103120" y="4197096"/>
            <a:ext cx="1463040" cy="566928"/>
          </a:xfrm>
          <a:prstGeom prst="roundRect">
            <a:avLst>
              <a:gd name="adj" fmla="val 11290"/>
            </a:avLst>
          </a:prstGeom>
          <a:solidFill>
            <a:srgbClr val="FFFFFF"/>
          </a:solidFill>
          <a:ln w="12700">
            <a:solidFill>
              <a:srgbClr val="EBEBEB"/>
            </a:solidFill>
            <a:prstDash val="solid"/>
          </a:ln>
          <a:effectLst>
            <a:outerShdw blurRad="101600" dist="38100" dir="2700000" algn="bl" rotWithShape="0">
              <a:srgbClr val="000000">
                <a:alpha val="12000"/>
              </a:srgbClr>
            </a:outerShdw>
          </a:effectLst>
        </p:spPr>
        <p:txBody>
          <a:bodyPr/>
          <a:lstStyle/>
          <a:p>
            <a:endParaRPr lang="en-US"/>
          </a:p>
        </p:txBody>
      </p:sp>
      <p:sp>
        <p:nvSpPr>
          <p:cNvPr id="22" name="Text 18"/>
          <p:cNvSpPr/>
          <p:nvPr/>
        </p:nvSpPr>
        <p:spPr>
          <a:xfrm>
            <a:off x="2103120" y="4197096"/>
            <a:ext cx="1463040" cy="566928"/>
          </a:xfrm>
          <a:prstGeom prst="rect">
            <a:avLst/>
          </a:prstGeom>
          <a:noFill/>
          <a:ln/>
        </p:spPr>
        <p:txBody>
          <a:bodyPr wrap="square" lIns="0" tIns="0" rIns="0" bIns="0" rtlCol="0" anchor="ctr"/>
          <a:lstStyle/>
          <a:p>
            <a:pPr marL="0" indent="0" algn="ctr">
              <a:buNone/>
            </a:pPr>
            <a:r>
              <a:rPr lang="en-US" sz="950" b="1" dirty="0">
                <a:solidFill>
                  <a:srgbClr val="191919"/>
                </a:solidFill>
                <a:latin typeface="Calibri" pitchFamily="34" charset="0"/>
                <a:ea typeface="Calibri" pitchFamily="34" charset="-122"/>
                <a:cs typeface="Calibri" pitchFamily="34" charset="-120"/>
              </a:rPr>
              <a:t>DIM_DATE</a:t>
            </a:r>
            <a:endParaRPr lang="en-US" sz="950" dirty="0"/>
          </a:p>
        </p:txBody>
      </p:sp>
      <p:sp>
        <p:nvSpPr>
          <p:cNvPr id="23" name="Text 19"/>
          <p:cNvSpPr/>
          <p:nvPr/>
        </p:nvSpPr>
        <p:spPr>
          <a:xfrm>
            <a:off x="5989320" y="1508760"/>
            <a:ext cx="2651760" cy="320040"/>
          </a:xfrm>
          <a:prstGeom prst="rect">
            <a:avLst/>
          </a:prstGeom>
          <a:noFill/>
          <a:ln/>
        </p:spPr>
        <p:txBody>
          <a:bodyPr wrap="square" lIns="0" tIns="0" rIns="0" bIns="0" rtlCol="0" anchor="ctr"/>
          <a:lstStyle/>
          <a:p>
            <a:pPr marL="0" indent="0">
              <a:buNone/>
            </a:pPr>
            <a:r>
              <a:rPr lang="en-US" sz="1500" b="1" dirty="0">
                <a:solidFill>
                  <a:srgbClr val="191919"/>
                </a:solidFill>
                <a:latin typeface="Cambria" pitchFamily="34" charset="0"/>
                <a:ea typeface="Cambria" pitchFamily="34" charset="-122"/>
                <a:cs typeface="Cambria" pitchFamily="34" charset="-120"/>
              </a:rPr>
              <a:t>Why a Star Schema</a:t>
            </a:r>
            <a:endParaRPr lang="en-US" sz="1500" dirty="0"/>
          </a:p>
        </p:txBody>
      </p:sp>
      <p:sp>
        <p:nvSpPr>
          <p:cNvPr id="24" name="Text 20"/>
          <p:cNvSpPr/>
          <p:nvPr/>
        </p:nvSpPr>
        <p:spPr>
          <a:xfrm>
            <a:off x="5989320" y="1920240"/>
            <a:ext cx="2697480" cy="2651760"/>
          </a:xfrm>
          <a:prstGeom prst="rect">
            <a:avLst/>
          </a:prstGeom>
          <a:noFill/>
          <a:ln/>
        </p:spPr>
        <p:txBody>
          <a:bodyPr wrap="square" lIns="0" tIns="0" rIns="0" bIns="0" rtlCol="0" anchor="ctr"/>
          <a:lstStyle/>
          <a:p>
            <a:pPr marL="342900" indent="-342900">
              <a:lnSpc>
                <a:spcPct val="130000"/>
              </a:lnSpc>
              <a:buSzPct val="100000"/>
              <a:buChar char="•"/>
            </a:pPr>
            <a:r>
              <a:rPr lang="en-US" sz="1050" dirty="0">
                <a:solidFill>
                  <a:srgbClr val="191919"/>
                </a:solidFill>
                <a:latin typeface="Calibri" pitchFamily="34" charset="0"/>
                <a:ea typeface="Calibri" pitchFamily="34" charset="-122"/>
                <a:cs typeface="Calibri" pitchFamily="34" charset="-120"/>
              </a:rPr>
              <a:t>Simple joins for fast, intuitive Power BI queries</a:t>
            </a:r>
            <a:endParaRPr lang="en-US" sz="1050" dirty="0"/>
          </a:p>
          <a:p>
            <a:pPr marL="342900" indent="-342900">
              <a:lnSpc>
                <a:spcPct val="130000"/>
              </a:lnSpc>
              <a:buSzPct val="100000"/>
              <a:buChar char="•"/>
            </a:pPr>
            <a:r>
              <a:rPr lang="en-US" sz="1050" dirty="0">
                <a:solidFill>
                  <a:srgbClr val="191919"/>
                </a:solidFill>
                <a:latin typeface="Calibri" pitchFamily="34" charset="0"/>
                <a:ea typeface="Calibri" pitchFamily="34" charset="-122"/>
                <a:cs typeface="Calibri" pitchFamily="34" charset="-120"/>
              </a:rPr>
              <a:t>One central fact table keeps metrics consistent</a:t>
            </a:r>
            <a:endParaRPr lang="en-US" sz="1050" dirty="0"/>
          </a:p>
          <a:p>
            <a:pPr marL="342900" indent="-342900">
              <a:lnSpc>
                <a:spcPct val="130000"/>
              </a:lnSpc>
              <a:buSzPct val="100000"/>
              <a:buChar char="•"/>
            </a:pPr>
            <a:r>
              <a:rPr lang="en-US" sz="1050" dirty="0">
                <a:solidFill>
                  <a:srgbClr val="191919"/>
                </a:solidFill>
                <a:latin typeface="Calibri" pitchFamily="34" charset="0"/>
                <a:ea typeface="Calibri" pitchFamily="34" charset="-122"/>
                <a:cs typeface="Calibri" pitchFamily="34" charset="-120"/>
              </a:rPr>
              <a:t>Dimensions enable flexible slicing by city, host, date</a:t>
            </a:r>
            <a:endParaRPr lang="en-US" sz="1050" dirty="0"/>
          </a:p>
          <a:p>
            <a:pPr marL="342900" indent="-342900">
              <a:lnSpc>
                <a:spcPct val="130000"/>
              </a:lnSpc>
              <a:buSzPct val="100000"/>
              <a:buChar char="•"/>
            </a:pPr>
            <a:r>
              <a:rPr lang="en-US" sz="1050" dirty="0">
                <a:solidFill>
                  <a:srgbClr val="191919"/>
                </a:solidFill>
                <a:latin typeface="Calibri" pitchFamily="34" charset="0"/>
                <a:ea typeface="Calibri" pitchFamily="34" charset="-122"/>
                <a:cs typeface="Calibri" pitchFamily="34" charset="-120"/>
              </a:rPr>
              <a:t>Scales cleanly as new listings or cities are added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07 · DELIVERY</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Power BI Dashboard</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08</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457200" y="1481328"/>
            <a:ext cx="2609088" cy="1417320"/>
          </a:xfrm>
          <a:prstGeom prst="roundRect">
            <a:avLst>
              <a:gd name="adj" fmla="val 516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40080" y="1664208"/>
            <a:ext cx="438912" cy="438912"/>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45419" y="1769547"/>
            <a:ext cx="228234" cy="228234"/>
          </a:xfrm>
          <a:prstGeom prst="rect">
            <a:avLst/>
          </a:prstGeom>
        </p:spPr>
      </p:pic>
      <p:sp>
        <p:nvSpPr>
          <p:cNvPr id="11" name="Text 7"/>
          <p:cNvSpPr/>
          <p:nvPr/>
        </p:nvSpPr>
        <p:spPr>
          <a:xfrm>
            <a:off x="640080" y="2176272"/>
            <a:ext cx="2243328" cy="274320"/>
          </a:xfrm>
          <a:prstGeom prst="rect">
            <a:avLst/>
          </a:prstGeom>
          <a:noFill/>
          <a:ln/>
        </p:spPr>
        <p:txBody>
          <a:bodyPr wrap="square" lIns="0" tIns="0" rIns="0" bIns="0" rtlCol="0" anchor="ctr"/>
          <a:lstStyle/>
          <a:p>
            <a:pPr marL="0" indent="0">
              <a:buNone/>
            </a:pPr>
            <a:r>
              <a:rPr lang="en-US" sz="1200" b="1" dirty="0">
                <a:solidFill>
                  <a:srgbClr val="191919"/>
                </a:solidFill>
                <a:latin typeface="Cambria" pitchFamily="34" charset="0"/>
                <a:ea typeface="Cambria" pitchFamily="34" charset="-122"/>
                <a:cs typeface="Cambria" pitchFamily="34" charset="-120"/>
              </a:rPr>
              <a:t>Executive Overview</a:t>
            </a:r>
            <a:endParaRPr lang="en-US" sz="1200" dirty="0"/>
          </a:p>
        </p:txBody>
      </p:sp>
      <p:sp>
        <p:nvSpPr>
          <p:cNvPr id="12" name="Text 8"/>
          <p:cNvSpPr/>
          <p:nvPr/>
        </p:nvSpPr>
        <p:spPr>
          <a:xfrm>
            <a:off x="640080" y="2423160"/>
            <a:ext cx="2243328" cy="411480"/>
          </a:xfrm>
          <a:prstGeom prst="rect">
            <a:avLst/>
          </a:prstGeom>
          <a:noFill/>
          <a:ln/>
        </p:spPr>
        <p:txBody>
          <a:bodyPr wrap="square" lIns="0" tIns="0" rIns="0" bIns="0" rtlCol="0" anchor="ctr"/>
          <a:lstStyle/>
          <a:p>
            <a:pPr marL="0" indent="0">
              <a:lnSpc>
                <a:spcPct val="112000"/>
              </a:lnSpc>
              <a:buNone/>
            </a:pPr>
            <a:r>
              <a:rPr lang="en-US" sz="870" dirty="0">
                <a:solidFill>
                  <a:srgbClr val="717171"/>
                </a:solidFill>
                <a:latin typeface="Calibri" pitchFamily="34" charset="0"/>
                <a:ea typeface="Calibri" pitchFamily="34" charset="-122"/>
                <a:cs typeface="Calibri" pitchFamily="34" charset="-120"/>
              </a:rPr>
              <a:t>KPIs at a glance: total listings, avg. price, occupancy, and revenue potential.</a:t>
            </a:r>
            <a:endParaRPr lang="en-US" sz="870" dirty="0"/>
          </a:p>
        </p:txBody>
      </p:sp>
      <p:sp>
        <p:nvSpPr>
          <p:cNvPr id="13" name="Shape 9"/>
          <p:cNvSpPr/>
          <p:nvPr/>
        </p:nvSpPr>
        <p:spPr>
          <a:xfrm>
            <a:off x="3267456" y="1481328"/>
            <a:ext cx="2609088" cy="1417320"/>
          </a:xfrm>
          <a:prstGeom prst="roundRect">
            <a:avLst>
              <a:gd name="adj" fmla="val 516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4" name="Shape 10"/>
          <p:cNvSpPr/>
          <p:nvPr/>
        </p:nvSpPr>
        <p:spPr>
          <a:xfrm>
            <a:off x="3450336" y="1664208"/>
            <a:ext cx="438912" cy="438912"/>
          </a:xfrm>
          <a:prstGeom prst="ellipse">
            <a:avLst/>
          </a:prstGeom>
          <a:solidFill>
            <a:srgbClr val="FF385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555675" y="1769547"/>
            <a:ext cx="228234" cy="228234"/>
          </a:xfrm>
          <a:prstGeom prst="rect">
            <a:avLst/>
          </a:prstGeom>
        </p:spPr>
      </p:pic>
      <p:sp>
        <p:nvSpPr>
          <p:cNvPr id="16" name="Text 11"/>
          <p:cNvSpPr/>
          <p:nvPr/>
        </p:nvSpPr>
        <p:spPr>
          <a:xfrm>
            <a:off x="3450336" y="2176272"/>
            <a:ext cx="2243328" cy="274320"/>
          </a:xfrm>
          <a:prstGeom prst="rect">
            <a:avLst/>
          </a:prstGeom>
          <a:noFill/>
          <a:ln/>
        </p:spPr>
        <p:txBody>
          <a:bodyPr wrap="square" lIns="0" tIns="0" rIns="0" bIns="0" rtlCol="0" anchor="ctr"/>
          <a:lstStyle/>
          <a:p>
            <a:pPr marL="0" indent="0">
              <a:buNone/>
            </a:pPr>
            <a:r>
              <a:rPr lang="en-US" sz="1200" b="1" dirty="0">
                <a:solidFill>
                  <a:srgbClr val="191919"/>
                </a:solidFill>
                <a:latin typeface="Cambria" pitchFamily="34" charset="0"/>
                <a:ea typeface="Cambria" pitchFamily="34" charset="-122"/>
                <a:cs typeface="Cambria" pitchFamily="34" charset="-120"/>
              </a:rPr>
              <a:t>Location Analysis</a:t>
            </a:r>
            <a:endParaRPr lang="en-US" sz="1200" dirty="0"/>
          </a:p>
        </p:txBody>
      </p:sp>
      <p:sp>
        <p:nvSpPr>
          <p:cNvPr id="17" name="Text 12"/>
          <p:cNvSpPr/>
          <p:nvPr/>
        </p:nvSpPr>
        <p:spPr>
          <a:xfrm>
            <a:off x="3450336" y="2423160"/>
            <a:ext cx="2243328" cy="411480"/>
          </a:xfrm>
          <a:prstGeom prst="rect">
            <a:avLst/>
          </a:prstGeom>
          <a:noFill/>
          <a:ln/>
        </p:spPr>
        <p:txBody>
          <a:bodyPr wrap="square" lIns="0" tIns="0" rIns="0" bIns="0" rtlCol="0" anchor="ctr"/>
          <a:lstStyle/>
          <a:p>
            <a:pPr marL="0" indent="0">
              <a:lnSpc>
                <a:spcPct val="112000"/>
              </a:lnSpc>
              <a:buNone/>
            </a:pPr>
            <a:r>
              <a:rPr lang="en-US" sz="870" dirty="0">
                <a:solidFill>
                  <a:srgbClr val="717171"/>
                </a:solidFill>
                <a:latin typeface="Calibri" pitchFamily="34" charset="0"/>
                <a:ea typeface="Calibri" pitchFamily="34" charset="-122"/>
                <a:cs typeface="Calibri" pitchFamily="34" charset="-120"/>
              </a:rPr>
              <a:t>City and neighborhood-level price and demand comparisons on an interactive map.</a:t>
            </a:r>
            <a:endParaRPr lang="en-US" sz="870" dirty="0"/>
          </a:p>
        </p:txBody>
      </p:sp>
      <p:sp>
        <p:nvSpPr>
          <p:cNvPr id="18" name="Shape 13"/>
          <p:cNvSpPr/>
          <p:nvPr/>
        </p:nvSpPr>
        <p:spPr>
          <a:xfrm>
            <a:off x="6077712" y="1481328"/>
            <a:ext cx="2609088" cy="1417320"/>
          </a:xfrm>
          <a:prstGeom prst="roundRect">
            <a:avLst>
              <a:gd name="adj" fmla="val 516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9" name="Shape 14"/>
          <p:cNvSpPr/>
          <p:nvPr/>
        </p:nvSpPr>
        <p:spPr>
          <a:xfrm>
            <a:off x="6260592" y="1664208"/>
            <a:ext cx="438912" cy="438912"/>
          </a:xfrm>
          <a:prstGeom prst="ellipse">
            <a:avLst/>
          </a:prstGeom>
          <a:solidFill>
            <a:srgbClr val="FF385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365931" y="1769547"/>
            <a:ext cx="228234" cy="228234"/>
          </a:xfrm>
          <a:prstGeom prst="rect">
            <a:avLst/>
          </a:prstGeom>
        </p:spPr>
      </p:pic>
      <p:sp>
        <p:nvSpPr>
          <p:cNvPr id="21" name="Text 15"/>
          <p:cNvSpPr/>
          <p:nvPr/>
        </p:nvSpPr>
        <p:spPr>
          <a:xfrm>
            <a:off x="6260592" y="2176272"/>
            <a:ext cx="2243328" cy="274320"/>
          </a:xfrm>
          <a:prstGeom prst="rect">
            <a:avLst/>
          </a:prstGeom>
          <a:noFill/>
          <a:ln/>
        </p:spPr>
        <p:txBody>
          <a:bodyPr wrap="square" lIns="0" tIns="0" rIns="0" bIns="0" rtlCol="0" anchor="ctr"/>
          <a:lstStyle/>
          <a:p>
            <a:pPr marL="0" indent="0">
              <a:buNone/>
            </a:pPr>
            <a:r>
              <a:rPr lang="en-US" sz="1200" b="1" dirty="0">
                <a:solidFill>
                  <a:srgbClr val="191919"/>
                </a:solidFill>
                <a:latin typeface="Cambria" pitchFamily="34" charset="0"/>
                <a:ea typeface="Cambria" pitchFamily="34" charset="-122"/>
                <a:cs typeface="Cambria" pitchFamily="34" charset="-120"/>
              </a:rPr>
              <a:t>Property Analysis</a:t>
            </a:r>
            <a:endParaRPr lang="en-US" sz="1200" dirty="0"/>
          </a:p>
        </p:txBody>
      </p:sp>
      <p:sp>
        <p:nvSpPr>
          <p:cNvPr id="22" name="Text 16"/>
          <p:cNvSpPr/>
          <p:nvPr/>
        </p:nvSpPr>
        <p:spPr>
          <a:xfrm>
            <a:off x="6260592" y="2423160"/>
            <a:ext cx="2243328" cy="411480"/>
          </a:xfrm>
          <a:prstGeom prst="rect">
            <a:avLst/>
          </a:prstGeom>
          <a:noFill/>
          <a:ln/>
        </p:spPr>
        <p:txBody>
          <a:bodyPr wrap="square" lIns="0" tIns="0" rIns="0" bIns="0" rtlCol="0" anchor="ctr"/>
          <a:lstStyle/>
          <a:p>
            <a:pPr marL="0" indent="0">
              <a:lnSpc>
                <a:spcPct val="112000"/>
              </a:lnSpc>
              <a:buNone/>
            </a:pPr>
            <a:r>
              <a:rPr lang="en-US" sz="870" dirty="0">
                <a:solidFill>
                  <a:srgbClr val="717171"/>
                </a:solidFill>
                <a:latin typeface="Calibri" pitchFamily="34" charset="0"/>
                <a:ea typeface="Calibri" pitchFamily="34" charset="-122"/>
                <a:cs typeface="Calibri" pitchFamily="34" charset="-120"/>
              </a:rPr>
              <a:t>Room type, size, and amenity impact on pricing and guest capacity.</a:t>
            </a:r>
            <a:endParaRPr lang="en-US" sz="870" dirty="0"/>
          </a:p>
        </p:txBody>
      </p:sp>
      <p:sp>
        <p:nvSpPr>
          <p:cNvPr id="23" name="Shape 17"/>
          <p:cNvSpPr/>
          <p:nvPr/>
        </p:nvSpPr>
        <p:spPr>
          <a:xfrm>
            <a:off x="457200" y="3099816"/>
            <a:ext cx="2609088" cy="1417320"/>
          </a:xfrm>
          <a:prstGeom prst="roundRect">
            <a:avLst>
              <a:gd name="adj" fmla="val 5161"/>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4" name="Shape 18"/>
          <p:cNvSpPr/>
          <p:nvPr/>
        </p:nvSpPr>
        <p:spPr>
          <a:xfrm>
            <a:off x="640080" y="3282696"/>
            <a:ext cx="438912" cy="438912"/>
          </a:xfrm>
          <a:prstGeom prst="ellipse">
            <a:avLst/>
          </a:prstGeom>
          <a:solidFill>
            <a:srgbClr val="FF385C"/>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745419" y="3388035"/>
            <a:ext cx="228234" cy="228234"/>
          </a:xfrm>
          <a:prstGeom prst="rect">
            <a:avLst/>
          </a:prstGeom>
        </p:spPr>
      </p:pic>
      <p:sp>
        <p:nvSpPr>
          <p:cNvPr id="26" name="Text 19"/>
          <p:cNvSpPr/>
          <p:nvPr/>
        </p:nvSpPr>
        <p:spPr>
          <a:xfrm>
            <a:off x="640080" y="3794760"/>
            <a:ext cx="2243328" cy="274320"/>
          </a:xfrm>
          <a:prstGeom prst="rect">
            <a:avLst/>
          </a:prstGeom>
          <a:noFill/>
          <a:ln/>
        </p:spPr>
        <p:txBody>
          <a:bodyPr wrap="square" lIns="0" tIns="0" rIns="0" bIns="0" rtlCol="0" anchor="ctr"/>
          <a:lstStyle/>
          <a:p>
            <a:pPr marL="0" indent="0">
              <a:buNone/>
            </a:pPr>
            <a:r>
              <a:rPr lang="en-US" sz="1200" b="1" dirty="0">
                <a:solidFill>
                  <a:srgbClr val="191919"/>
                </a:solidFill>
                <a:latin typeface="Cambria" pitchFamily="34" charset="0"/>
                <a:ea typeface="Cambria" pitchFamily="34" charset="-122"/>
                <a:cs typeface="Cambria" pitchFamily="34" charset="-120"/>
              </a:rPr>
              <a:t>Host &amp; Customer Analysis</a:t>
            </a:r>
            <a:endParaRPr lang="en-US" sz="1200" dirty="0"/>
          </a:p>
        </p:txBody>
      </p:sp>
      <p:sp>
        <p:nvSpPr>
          <p:cNvPr id="27" name="Text 20"/>
          <p:cNvSpPr/>
          <p:nvPr/>
        </p:nvSpPr>
        <p:spPr>
          <a:xfrm>
            <a:off x="640080" y="4041648"/>
            <a:ext cx="2243328" cy="411480"/>
          </a:xfrm>
          <a:prstGeom prst="rect">
            <a:avLst/>
          </a:prstGeom>
          <a:noFill/>
          <a:ln/>
        </p:spPr>
        <p:txBody>
          <a:bodyPr wrap="square" lIns="0" tIns="0" rIns="0" bIns="0" rtlCol="0" anchor="ctr"/>
          <a:lstStyle/>
          <a:p>
            <a:pPr marL="0" indent="0">
              <a:lnSpc>
                <a:spcPct val="112000"/>
              </a:lnSpc>
              <a:buNone/>
            </a:pPr>
            <a:r>
              <a:rPr lang="en-US" sz="870" dirty="0">
                <a:solidFill>
                  <a:srgbClr val="717171"/>
                </a:solidFill>
                <a:latin typeface="Calibri" pitchFamily="34" charset="0"/>
                <a:ea typeface="Calibri" pitchFamily="34" charset="-122"/>
                <a:cs typeface="Calibri" pitchFamily="34" charset="-120"/>
              </a:rPr>
              <a:t>Host type, superhost status, and review patterns segmented by guest behavior.</a:t>
            </a:r>
            <a:endParaRPr lang="en-US" sz="870" dirty="0"/>
          </a:p>
        </p:txBody>
      </p:sp>
      <p:sp>
        <p:nvSpPr>
          <p:cNvPr id="28" name="Shape 21"/>
          <p:cNvSpPr/>
          <p:nvPr/>
        </p:nvSpPr>
        <p:spPr>
          <a:xfrm>
            <a:off x="3267456" y="3099816"/>
            <a:ext cx="2609088" cy="1417320"/>
          </a:xfrm>
          <a:prstGeom prst="roundRect">
            <a:avLst>
              <a:gd name="adj" fmla="val 5161"/>
            </a:avLst>
          </a:prstGeom>
          <a:solidFill>
            <a:srgbClr val="191919"/>
          </a:solidFill>
          <a:ln/>
          <a:effectLst>
            <a:outerShdw blurRad="101600" dist="38100" dir="2700000" algn="bl" rotWithShape="0">
              <a:srgbClr val="000000">
                <a:alpha val="12000"/>
              </a:srgbClr>
            </a:outerShdw>
          </a:effectLst>
        </p:spPr>
        <p:txBody>
          <a:bodyPr/>
          <a:lstStyle/>
          <a:p>
            <a:endParaRPr lang="en-US"/>
          </a:p>
        </p:txBody>
      </p:sp>
      <p:sp>
        <p:nvSpPr>
          <p:cNvPr id="29" name="Shape 22"/>
          <p:cNvSpPr/>
          <p:nvPr/>
        </p:nvSpPr>
        <p:spPr>
          <a:xfrm>
            <a:off x="3450336" y="3282696"/>
            <a:ext cx="438912" cy="438912"/>
          </a:xfrm>
          <a:prstGeom prst="ellipse">
            <a:avLst/>
          </a:prstGeom>
          <a:solidFill>
            <a:srgbClr val="FF385C"/>
          </a:solidFill>
          <a:ln/>
        </p:spPr>
        <p:txBody>
          <a:bodyPr/>
          <a:lstStyle/>
          <a:p>
            <a:endParaRPr lang="en-US"/>
          </a:p>
        </p:txBody>
      </p:sp>
      <p:pic>
        <p:nvPicPr>
          <p:cNvPr id="30" name="Image 5" descr="preencoded.png"/>
          <p:cNvPicPr>
            <a:picLocks noChangeAspect="1"/>
          </p:cNvPicPr>
          <p:nvPr/>
        </p:nvPicPr>
        <p:blipFill>
          <a:blip r:embed="rId8"/>
          <a:stretch>
            <a:fillRect/>
          </a:stretch>
        </p:blipFill>
        <p:spPr>
          <a:xfrm>
            <a:off x="3555675" y="3388035"/>
            <a:ext cx="228234" cy="228234"/>
          </a:xfrm>
          <a:prstGeom prst="rect">
            <a:avLst/>
          </a:prstGeom>
        </p:spPr>
      </p:pic>
      <p:sp>
        <p:nvSpPr>
          <p:cNvPr id="31" name="Text 23"/>
          <p:cNvSpPr/>
          <p:nvPr/>
        </p:nvSpPr>
        <p:spPr>
          <a:xfrm>
            <a:off x="3450336" y="3794760"/>
            <a:ext cx="2243328" cy="27432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Executive Summary</a:t>
            </a:r>
            <a:endParaRPr lang="en-US" sz="1200" dirty="0"/>
          </a:p>
        </p:txBody>
      </p:sp>
      <p:sp>
        <p:nvSpPr>
          <p:cNvPr id="32" name="Text 24"/>
          <p:cNvSpPr/>
          <p:nvPr/>
        </p:nvSpPr>
        <p:spPr>
          <a:xfrm>
            <a:off x="3450336" y="4041648"/>
            <a:ext cx="2243328" cy="411480"/>
          </a:xfrm>
          <a:prstGeom prst="rect">
            <a:avLst/>
          </a:prstGeom>
          <a:noFill/>
          <a:ln/>
        </p:spPr>
        <p:txBody>
          <a:bodyPr wrap="square" lIns="0" tIns="0" rIns="0" bIns="0" rtlCol="0" anchor="ctr"/>
          <a:lstStyle/>
          <a:p>
            <a:pPr marL="0" indent="0">
              <a:lnSpc>
                <a:spcPct val="112000"/>
              </a:lnSpc>
              <a:buNone/>
            </a:pPr>
            <a:r>
              <a:rPr lang="en-US" sz="870" dirty="0">
                <a:solidFill>
                  <a:srgbClr val="B0B0B0"/>
                </a:solidFill>
                <a:latin typeface="Calibri" pitchFamily="34" charset="0"/>
                <a:ea typeface="Calibri" pitchFamily="34" charset="-122"/>
                <a:cs typeface="Calibri" pitchFamily="34" charset="-120"/>
              </a:rPr>
              <a:t>One-page narrative view distilling insights and recommendations for leadership.</a:t>
            </a:r>
            <a:endParaRPr lang="en-US" sz="8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08 · FINDINGS</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Key Business Insights</a:t>
            </a:r>
            <a:endParaRPr lang="en-US" sz="3000" dirty="0"/>
          </a:p>
        </p:txBody>
      </p:sp>
      <p:sp>
        <p:nvSpPr>
          <p:cNvPr id="4" name="Text 2"/>
          <p:cNvSpPr/>
          <p:nvPr/>
        </p:nvSpPr>
        <p:spPr>
          <a:xfrm>
            <a:off x="457200" y="4622292"/>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622292"/>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09</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721047"/>
            <a:ext cx="170993" cy="170993"/>
          </a:xfrm>
          <a:prstGeom prst="rect">
            <a:avLst/>
          </a:prstGeom>
        </p:spPr>
      </p:pic>
      <p:sp>
        <p:nvSpPr>
          <p:cNvPr id="8" name="Shape 5"/>
          <p:cNvSpPr/>
          <p:nvPr/>
        </p:nvSpPr>
        <p:spPr>
          <a:xfrm>
            <a:off x="457200" y="1307592"/>
            <a:ext cx="4000500" cy="841248"/>
          </a:xfrm>
          <a:prstGeom prst="roundRect">
            <a:avLst>
              <a:gd name="adj" fmla="val 869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21792" y="1499616"/>
            <a:ext cx="457200" cy="457200"/>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31520" y="1609344"/>
            <a:ext cx="237744" cy="237744"/>
          </a:xfrm>
          <a:prstGeom prst="rect">
            <a:avLst/>
          </a:prstGeom>
        </p:spPr>
      </p:pic>
      <p:sp>
        <p:nvSpPr>
          <p:cNvPr id="11" name="Text 7"/>
          <p:cNvSpPr/>
          <p:nvPr/>
        </p:nvSpPr>
        <p:spPr>
          <a:xfrm>
            <a:off x="1234440" y="1307592"/>
            <a:ext cx="3040380" cy="841248"/>
          </a:xfrm>
          <a:prstGeom prst="rect">
            <a:avLst/>
          </a:prstGeom>
          <a:noFill/>
          <a:ln/>
        </p:spPr>
        <p:txBody>
          <a:bodyPr wrap="square" lIns="0" tIns="0" rIns="0" bIns="0" rtlCol="0" anchor="ctr"/>
          <a:lstStyle/>
          <a:p>
            <a:pPr marL="0" indent="0">
              <a:lnSpc>
                <a:spcPct val="112000"/>
              </a:lnSpc>
              <a:buNone/>
            </a:pPr>
            <a:r>
              <a:rPr lang="en-US" sz="1080" dirty="0">
                <a:solidFill>
                  <a:srgbClr val="191919"/>
                </a:solidFill>
                <a:latin typeface="Calibri" pitchFamily="34" charset="0"/>
                <a:ea typeface="Calibri" pitchFamily="34" charset="-122"/>
                <a:cs typeface="Calibri" pitchFamily="34" charset="-120"/>
              </a:rPr>
              <a:t>Location is the strongest driver of pricing across all cities.</a:t>
            </a:r>
            <a:endParaRPr lang="en-US" sz="1080" dirty="0"/>
          </a:p>
        </p:txBody>
      </p:sp>
      <p:sp>
        <p:nvSpPr>
          <p:cNvPr id="12" name="Shape 8"/>
          <p:cNvSpPr/>
          <p:nvPr/>
        </p:nvSpPr>
        <p:spPr>
          <a:xfrm>
            <a:off x="4686300" y="1307592"/>
            <a:ext cx="4000500" cy="841248"/>
          </a:xfrm>
          <a:prstGeom prst="roundRect">
            <a:avLst>
              <a:gd name="adj" fmla="val 869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3" name="Shape 9"/>
          <p:cNvSpPr/>
          <p:nvPr/>
        </p:nvSpPr>
        <p:spPr>
          <a:xfrm>
            <a:off x="4850892" y="1499616"/>
            <a:ext cx="457200" cy="457200"/>
          </a:xfrm>
          <a:prstGeom prst="ellipse">
            <a:avLst/>
          </a:prstGeom>
          <a:solidFill>
            <a:srgbClr val="FF385C"/>
          </a:solidFill>
          <a:ln/>
        </p:spPr>
        <p:txBody>
          <a:bodyPr/>
          <a:lstStyle/>
          <a:p>
            <a:endParaRPr lang="en-US"/>
          </a:p>
        </p:txBody>
      </p:sp>
      <p:pic>
        <p:nvPicPr>
          <p:cNvPr id="14" name="Image 2" descr="preencoded.png"/>
          <p:cNvPicPr>
            <a:picLocks noChangeAspect="1"/>
          </p:cNvPicPr>
          <p:nvPr/>
        </p:nvPicPr>
        <p:blipFill>
          <a:blip r:embed="rId3"/>
          <a:stretch>
            <a:fillRect/>
          </a:stretch>
        </p:blipFill>
        <p:spPr>
          <a:xfrm>
            <a:off x="4960620" y="1609344"/>
            <a:ext cx="237744" cy="237744"/>
          </a:xfrm>
          <a:prstGeom prst="rect">
            <a:avLst/>
          </a:prstGeom>
        </p:spPr>
      </p:pic>
      <p:sp>
        <p:nvSpPr>
          <p:cNvPr id="15" name="Text 10"/>
          <p:cNvSpPr/>
          <p:nvPr/>
        </p:nvSpPr>
        <p:spPr>
          <a:xfrm>
            <a:off x="5463540" y="1307592"/>
            <a:ext cx="3040380" cy="841248"/>
          </a:xfrm>
          <a:prstGeom prst="rect">
            <a:avLst/>
          </a:prstGeom>
          <a:noFill/>
          <a:ln/>
        </p:spPr>
        <p:txBody>
          <a:bodyPr wrap="square" lIns="0" tIns="0" rIns="0" bIns="0" rtlCol="0" anchor="ctr"/>
          <a:lstStyle/>
          <a:p>
            <a:pPr marL="0" indent="0">
              <a:lnSpc>
                <a:spcPct val="112000"/>
              </a:lnSpc>
              <a:buNone/>
            </a:pPr>
            <a:r>
              <a:rPr lang="en-US" sz="1080" dirty="0">
                <a:solidFill>
                  <a:srgbClr val="191919"/>
                </a:solidFill>
                <a:latin typeface="Calibri" pitchFamily="34" charset="0"/>
                <a:ea typeface="Calibri" pitchFamily="34" charset="-122"/>
                <a:cs typeface="Calibri" pitchFamily="34" charset="-120"/>
              </a:rPr>
              <a:t>Entire homes command a significant premium over private/shared rooms.</a:t>
            </a:r>
            <a:endParaRPr lang="en-US" sz="1080" dirty="0"/>
          </a:p>
        </p:txBody>
      </p:sp>
      <p:sp>
        <p:nvSpPr>
          <p:cNvPr id="16" name="Shape 11"/>
          <p:cNvSpPr/>
          <p:nvPr/>
        </p:nvSpPr>
        <p:spPr>
          <a:xfrm>
            <a:off x="457200" y="2295144"/>
            <a:ext cx="4000500" cy="841248"/>
          </a:xfrm>
          <a:prstGeom prst="roundRect">
            <a:avLst>
              <a:gd name="adj" fmla="val 869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7" name="Shape 12"/>
          <p:cNvSpPr/>
          <p:nvPr/>
        </p:nvSpPr>
        <p:spPr>
          <a:xfrm>
            <a:off x="621792" y="2487168"/>
            <a:ext cx="457200" cy="457200"/>
          </a:xfrm>
          <a:prstGeom prst="ellipse">
            <a:avLst/>
          </a:prstGeom>
          <a:solidFill>
            <a:srgbClr val="FF385C"/>
          </a:solidFill>
          <a:ln/>
        </p:spPr>
        <p:txBody>
          <a:bodyPr/>
          <a:lstStyle/>
          <a:p>
            <a:endParaRPr lang="en-US"/>
          </a:p>
        </p:txBody>
      </p:sp>
      <p:pic>
        <p:nvPicPr>
          <p:cNvPr id="18" name="Image 3" descr="preencoded.png"/>
          <p:cNvPicPr>
            <a:picLocks noChangeAspect="1"/>
          </p:cNvPicPr>
          <p:nvPr/>
        </p:nvPicPr>
        <p:blipFill>
          <a:blip r:embed="rId5"/>
          <a:stretch>
            <a:fillRect/>
          </a:stretch>
        </p:blipFill>
        <p:spPr>
          <a:xfrm>
            <a:off x="731520" y="2596896"/>
            <a:ext cx="237744" cy="237744"/>
          </a:xfrm>
          <a:prstGeom prst="rect">
            <a:avLst/>
          </a:prstGeom>
        </p:spPr>
      </p:pic>
      <p:sp>
        <p:nvSpPr>
          <p:cNvPr id="19" name="Text 13"/>
          <p:cNvSpPr/>
          <p:nvPr/>
        </p:nvSpPr>
        <p:spPr>
          <a:xfrm>
            <a:off x="1234440" y="2295144"/>
            <a:ext cx="3040380" cy="841248"/>
          </a:xfrm>
          <a:prstGeom prst="rect">
            <a:avLst/>
          </a:prstGeom>
          <a:noFill/>
          <a:ln/>
        </p:spPr>
        <p:txBody>
          <a:bodyPr wrap="square" lIns="0" tIns="0" rIns="0" bIns="0" rtlCol="0" anchor="ctr"/>
          <a:lstStyle/>
          <a:p>
            <a:pPr marL="0" indent="0">
              <a:lnSpc>
                <a:spcPct val="112000"/>
              </a:lnSpc>
              <a:buNone/>
            </a:pPr>
            <a:r>
              <a:rPr lang="en-US" sz="1080" dirty="0">
                <a:solidFill>
                  <a:srgbClr val="191919"/>
                </a:solidFill>
                <a:latin typeface="Calibri" pitchFamily="34" charset="0"/>
                <a:ea typeface="Calibri" pitchFamily="34" charset="-122"/>
                <a:cs typeface="Calibri" pitchFamily="34" charset="-120"/>
              </a:rPr>
              <a:t>Larger properties generate meaningfully higher per-night revenue.</a:t>
            </a:r>
            <a:endParaRPr lang="en-US" sz="1080" dirty="0"/>
          </a:p>
        </p:txBody>
      </p:sp>
      <p:sp>
        <p:nvSpPr>
          <p:cNvPr id="20" name="Shape 14"/>
          <p:cNvSpPr/>
          <p:nvPr/>
        </p:nvSpPr>
        <p:spPr>
          <a:xfrm>
            <a:off x="4686300" y="2295144"/>
            <a:ext cx="4000500" cy="841248"/>
          </a:xfrm>
          <a:prstGeom prst="roundRect">
            <a:avLst>
              <a:gd name="adj" fmla="val 869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1" name="Shape 15"/>
          <p:cNvSpPr/>
          <p:nvPr/>
        </p:nvSpPr>
        <p:spPr>
          <a:xfrm>
            <a:off x="4850892" y="2487168"/>
            <a:ext cx="457200" cy="457200"/>
          </a:xfrm>
          <a:prstGeom prst="ellipse">
            <a:avLst/>
          </a:prstGeom>
          <a:solidFill>
            <a:srgbClr val="FF385C"/>
          </a:solidFill>
          <a:ln/>
        </p:spPr>
        <p:txBody>
          <a:bodyPr/>
          <a:lstStyle/>
          <a:p>
            <a:endParaRPr lang="en-US"/>
          </a:p>
        </p:txBody>
      </p:sp>
      <p:pic>
        <p:nvPicPr>
          <p:cNvPr id="22" name="Image 4" descr="preencoded.png"/>
          <p:cNvPicPr>
            <a:picLocks noChangeAspect="1"/>
          </p:cNvPicPr>
          <p:nvPr/>
        </p:nvPicPr>
        <p:blipFill>
          <a:blip r:embed="rId6"/>
          <a:stretch>
            <a:fillRect/>
          </a:stretch>
        </p:blipFill>
        <p:spPr>
          <a:xfrm>
            <a:off x="4960620" y="2596896"/>
            <a:ext cx="237744" cy="237744"/>
          </a:xfrm>
          <a:prstGeom prst="rect">
            <a:avLst/>
          </a:prstGeom>
        </p:spPr>
      </p:pic>
      <p:sp>
        <p:nvSpPr>
          <p:cNvPr id="23" name="Text 16"/>
          <p:cNvSpPr/>
          <p:nvPr/>
        </p:nvSpPr>
        <p:spPr>
          <a:xfrm>
            <a:off x="5463540" y="2295144"/>
            <a:ext cx="3040380" cy="841248"/>
          </a:xfrm>
          <a:prstGeom prst="rect">
            <a:avLst/>
          </a:prstGeom>
          <a:noFill/>
          <a:ln/>
        </p:spPr>
        <p:txBody>
          <a:bodyPr wrap="square" lIns="0" tIns="0" rIns="0" bIns="0" rtlCol="0" anchor="ctr"/>
          <a:lstStyle/>
          <a:p>
            <a:pPr marL="0" indent="0">
              <a:lnSpc>
                <a:spcPct val="112000"/>
              </a:lnSpc>
              <a:buNone/>
            </a:pPr>
            <a:r>
              <a:rPr lang="en-US" sz="1080" dirty="0">
                <a:solidFill>
                  <a:srgbClr val="191919"/>
                </a:solidFill>
                <a:latin typeface="Calibri" pitchFamily="34" charset="0"/>
                <a:ea typeface="Calibri" pitchFamily="34" charset="-122"/>
                <a:cs typeface="Calibri" pitchFamily="34" charset="-120"/>
              </a:rPr>
              <a:t>Amsterdam has the highest average listing price of the 10 cities.</a:t>
            </a:r>
            <a:endParaRPr lang="en-US" sz="1080" dirty="0"/>
          </a:p>
        </p:txBody>
      </p:sp>
      <p:sp>
        <p:nvSpPr>
          <p:cNvPr id="24" name="Shape 17"/>
          <p:cNvSpPr/>
          <p:nvPr/>
        </p:nvSpPr>
        <p:spPr>
          <a:xfrm>
            <a:off x="457200" y="3282696"/>
            <a:ext cx="4000500" cy="841248"/>
          </a:xfrm>
          <a:prstGeom prst="roundRect">
            <a:avLst>
              <a:gd name="adj" fmla="val 869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5" name="Shape 18"/>
          <p:cNvSpPr/>
          <p:nvPr/>
        </p:nvSpPr>
        <p:spPr>
          <a:xfrm>
            <a:off x="621792" y="3474720"/>
            <a:ext cx="457200" cy="457200"/>
          </a:xfrm>
          <a:prstGeom prst="ellipse">
            <a:avLst/>
          </a:prstGeom>
          <a:solidFill>
            <a:srgbClr val="FF385C"/>
          </a:solidFill>
          <a:ln/>
        </p:spPr>
        <p:txBody>
          <a:bodyPr/>
          <a:lstStyle/>
          <a:p>
            <a:endParaRPr lang="en-US"/>
          </a:p>
        </p:txBody>
      </p:sp>
      <p:pic>
        <p:nvPicPr>
          <p:cNvPr id="26" name="Image 5" descr="preencoded.png"/>
          <p:cNvPicPr>
            <a:picLocks noChangeAspect="1"/>
          </p:cNvPicPr>
          <p:nvPr/>
        </p:nvPicPr>
        <p:blipFill>
          <a:blip r:embed="rId7"/>
          <a:stretch>
            <a:fillRect/>
          </a:stretch>
        </p:blipFill>
        <p:spPr>
          <a:xfrm>
            <a:off x="731520" y="3584448"/>
            <a:ext cx="237744" cy="237744"/>
          </a:xfrm>
          <a:prstGeom prst="rect">
            <a:avLst/>
          </a:prstGeom>
        </p:spPr>
      </p:pic>
      <p:sp>
        <p:nvSpPr>
          <p:cNvPr id="27" name="Text 19"/>
          <p:cNvSpPr/>
          <p:nvPr/>
        </p:nvSpPr>
        <p:spPr>
          <a:xfrm>
            <a:off x="1234440" y="3282696"/>
            <a:ext cx="3040380" cy="841248"/>
          </a:xfrm>
          <a:prstGeom prst="rect">
            <a:avLst/>
          </a:prstGeom>
          <a:noFill/>
          <a:ln/>
        </p:spPr>
        <p:txBody>
          <a:bodyPr wrap="square" lIns="0" tIns="0" rIns="0" bIns="0" rtlCol="0" anchor="ctr"/>
          <a:lstStyle/>
          <a:p>
            <a:pPr marL="0" indent="0">
              <a:lnSpc>
                <a:spcPct val="112000"/>
              </a:lnSpc>
              <a:buNone/>
            </a:pPr>
            <a:r>
              <a:rPr lang="en-US" sz="1080" dirty="0">
                <a:solidFill>
                  <a:srgbClr val="191919"/>
                </a:solidFill>
                <a:latin typeface="Calibri" pitchFamily="34" charset="0"/>
                <a:ea typeface="Calibri" pitchFamily="34" charset="-122"/>
                <a:cs typeface="Calibri" pitchFamily="34" charset="-120"/>
              </a:rPr>
              <a:t>Superhost status has only a marginal effect on price.</a:t>
            </a:r>
            <a:endParaRPr lang="en-US" sz="1080" dirty="0"/>
          </a:p>
        </p:txBody>
      </p:sp>
      <p:sp>
        <p:nvSpPr>
          <p:cNvPr id="28" name="Shape 20"/>
          <p:cNvSpPr/>
          <p:nvPr/>
        </p:nvSpPr>
        <p:spPr>
          <a:xfrm>
            <a:off x="4686300" y="3282696"/>
            <a:ext cx="4000500" cy="841248"/>
          </a:xfrm>
          <a:prstGeom prst="roundRect">
            <a:avLst>
              <a:gd name="adj" fmla="val 869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9" name="Shape 21"/>
          <p:cNvSpPr/>
          <p:nvPr/>
        </p:nvSpPr>
        <p:spPr>
          <a:xfrm>
            <a:off x="4850892" y="3474720"/>
            <a:ext cx="457200" cy="457200"/>
          </a:xfrm>
          <a:prstGeom prst="ellipse">
            <a:avLst/>
          </a:prstGeom>
          <a:solidFill>
            <a:srgbClr val="FF385C"/>
          </a:solidFill>
          <a:ln/>
        </p:spPr>
        <p:txBody>
          <a:bodyPr/>
          <a:lstStyle/>
          <a:p>
            <a:endParaRPr lang="en-US"/>
          </a:p>
        </p:txBody>
      </p:sp>
      <p:pic>
        <p:nvPicPr>
          <p:cNvPr id="30" name="Image 6" descr="preencoded.png"/>
          <p:cNvPicPr>
            <a:picLocks noChangeAspect="1"/>
          </p:cNvPicPr>
          <p:nvPr/>
        </p:nvPicPr>
        <p:blipFill>
          <a:blip r:embed="rId8"/>
          <a:stretch>
            <a:fillRect/>
          </a:stretch>
        </p:blipFill>
        <p:spPr>
          <a:xfrm>
            <a:off x="4960620" y="3584448"/>
            <a:ext cx="237744" cy="237744"/>
          </a:xfrm>
          <a:prstGeom prst="rect">
            <a:avLst/>
          </a:prstGeom>
        </p:spPr>
      </p:pic>
      <p:sp>
        <p:nvSpPr>
          <p:cNvPr id="31" name="Text 22"/>
          <p:cNvSpPr/>
          <p:nvPr/>
        </p:nvSpPr>
        <p:spPr>
          <a:xfrm>
            <a:off x="5463540" y="3282696"/>
            <a:ext cx="3040380" cy="841248"/>
          </a:xfrm>
          <a:prstGeom prst="rect">
            <a:avLst/>
          </a:prstGeom>
          <a:noFill/>
          <a:ln/>
        </p:spPr>
        <p:txBody>
          <a:bodyPr wrap="square" lIns="0" tIns="0" rIns="0" bIns="0" rtlCol="0" anchor="ctr"/>
          <a:lstStyle/>
          <a:p>
            <a:pPr marL="0" indent="0">
              <a:lnSpc>
                <a:spcPct val="112000"/>
              </a:lnSpc>
              <a:buNone/>
            </a:pPr>
            <a:r>
              <a:rPr lang="en-US" sz="1080" dirty="0">
                <a:solidFill>
                  <a:srgbClr val="191919"/>
                </a:solidFill>
                <a:latin typeface="Calibri" pitchFamily="34" charset="0"/>
                <a:ea typeface="Calibri" pitchFamily="34" charset="-122"/>
                <a:cs typeface="Calibri" pitchFamily="34" charset="-120"/>
              </a:rPr>
              <a:t>Weekend prices run slightly higher than weekday prices.</a:t>
            </a:r>
            <a:endParaRPr lang="en-US" sz="1080" dirty="0"/>
          </a:p>
        </p:txBody>
      </p:sp>
      <p:sp>
        <p:nvSpPr>
          <p:cNvPr id="32" name="Shape 23"/>
          <p:cNvSpPr/>
          <p:nvPr/>
        </p:nvSpPr>
        <p:spPr>
          <a:xfrm>
            <a:off x="457200" y="4270248"/>
            <a:ext cx="4000500" cy="841248"/>
          </a:xfrm>
          <a:prstGeom prst="roundRect">
            <a:avLst>
              <a:gd name="adj" fmla="val 8696"/>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33" name="Shape 24"/>
          <p:cNvSpPr/>
          <p:nvPr/>
        </p:nvSpPr>
        <p:spPr>
          <a:xfrm>
            <a:off x="621792" y="4462272"/>
            <a:ext cx="457200" cy="457200"/>
          </a:xfrm>
          <a:prstGeom prst="ellipse">
            <a:avLst/>
          </a:prstGeom>
          <a:solidFill>
            <a:srgbClr val="FF385C"/>
          </a:solidFill>
          <a:ln/>
        </p:spPr>
        <p:txBody>
          <a:bodyPr/>
          <a:lstStyle/>
          <a:p>
            <a:endParaRPr lang="en-US"/>
          </a:p>
        </p:txBody>
      </p:sp>
      <p:pic>
        <p:nvPicPr>
          <p:cNvPr id="34" name="Image 7" descr="preencoded.png"/>
          <p:cNvPicPr>
            <a:picLocks noChangeAspect="1"/>
          </p:cNvPicPr>
          <p:nvPr/>
        </p:nvPicPr>
        <p:blipFill>
          <a:blip r:embed="rId9"/>
          <a:stretch>
            <a:fillRect/>
          </a:stretch>
        </p:blipFill>
        <p:spPr>
          <a:xfrm>
            <a:off x="731520" y="4572000"/>
            <a:ext cx="237744" cy="237744"/>
          </a:xfrm>
          <a:prstGeom prst="rect">
            <a:avLst/>
          </a:prstGeom>
        </p:spPr>
      </p:pic>
      <p:sp>
        <p:nvSpPr>
          <p:cNvPr id="35" name="Text 25"/>
          <p:cNvSpPr/>
          <p:nvPr/>
        </p:nvSpPr>
        <p:spPr>
          <a:xfrm>
            <a:off x="1234440" y="4270248"/>
            <a:ext cx="3040380" cy="841248"/>
          </a:xfrm>
          <a:prstGeom prst="rect">
            <a:avLst/>
          </a:prstGeom>
          <a:noFill/>
          <a:ln/>
        </p:spPr>
        <p:txBody>
          <a:bodyPr wrap="square" lIns="0" tIns="0" rIns="0" bIns="0" rtlCol="0" anchor="ctr"/>
          <a:lstStyle/>
          <a:p>
            <a:pPr marL="0" indent="0">
              <a:lnSpc>
                <a:spcPct val="112000"/>
              </a:lnSpc>
              <a:buNone/>
            </a:pPr>
            <a:r>
              <a:rPr lang="en-US" sz="1080" dirty="0">
                <a:solidFill>
                  <a:srgbClr val="191919"/>
                </a:solidFill>
                <a:latin typeface="Calibri" pitchFamily="34" charset="0"/>
                <a:ea typeface="Calibri" pitchFamily="34" charset="-122"/>
                <a:cs typeface="Calibri" pitchFamily="34" charset="-120"/>
              </a:rPr>
              <a:t>Neighborhood attractiveness matters more than individual amenities.</a:t>
            </a:r>
            <a:endParaRPr lang="en-US" sz="10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09 · STRATEGY</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Business Recommendations</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10</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457200" y="1481328"/>
            <a:ext cx="2572512" cy="3063240"/>
          </a:xfrm>
          <a:prstGeom prst="roundRect">
            <a:avLst>
              <a:gd name="adj" fmla="val 319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94944" y="1719072"/>
            <a:ext cx="548640" cy="548640"/>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826618" y="1850746"/>
            <a:ext cx="285293" cy="285293"/>
          </a:xfrm>
          <a:prstGeom prst="rect">
            <a:avLst/>
          </a:prstGeom>
        </p:spPr>
      </p:pic>
      <p:sp>
        <p:nvSpPr>
          <p:cNvPr id="11" name="Text 7"/>
          <p:cNvSpPr/>
          <p:nvPr/>
        </p:nvSpPr>
        <p:spPr>
          <a:xfrm>
            <a:off x="694944" y="2395728"/>
            <a:ext cx="2097024" cy="365760"/>
          </a:xfrm>
          <a:prstGeom prst="rect">
            <a:avLst/>
          </a:prstGeom>
          <a:noFill/>
          <a:ln/>
        </p:spPr>
        <p:txBody>
          <a:bodyPr wrap="square" lIns="0" tIns="0" rIns="0" bIns="0" rtlCol="0" anchor="ctr"/>
          <a:lstStyle/>
          <a:p>
            <a:pPr marL="0" indent="0">
              <a:buNone/>
            </a:pPr>
            <a:r>
              <a:rPr lang="en-US" sz="1500" b="1" dirty="0">
                <a:solidFill>
                  <a:srgbClr val="191919"/>
                </a:solidFill>
                <a:latin typeface="Cambria" pitchFamily="34" charset="0"/>
                <a:ea typeface="Cambria" pitchFamily="34" charset="-122"/>
                <a:cs typeface="Cambria" pitchFamily="34" charset="-120"/>
              </a:rPr>
              <a:t>Investment</a:t>
            </a:r>
            <a:endParaRPr lang="en-US" sz="1500" dirty="0"/>
          </a:p>
        </p:txBody>
      </p:sp>
      <p:sp>
        <p:nvSpPr>
          <p:cNvPr id="12" name="Text 8"/>
          <p:cNvSpPr/>
          <p:nvPr/>
        </p:nvSpPr>
        <p:spPr>
          <a:xfrm>
            <a:off x="694944" y="2807208"/>
            <a:ext cx="2097024" cy="1600200"/>
          </a:xfrm>
          <a:prstGeom prst="rect">
            <a:avLst/>
          </a:prstGeom>
          <a:noFill/>
          <a:ln/>
        </p:spPr>
        <p:txBody>
          <a:bodyPr wrap="square" lIns="0" tIns="0" rIns="0" bIns="0" rtlCol="0" anchor="ctr"/>
          <a:lstStyle/>
          <a:p>
            <a:pPr marL="342900" indent="-342900">
              <a:lnSpc>
                <a:spcPct val="130000"/>
              </a:lnSpc>
              <a:buSzPct val="100000"/>
              <a:buChar char="•"/>
            </a:pPr>
            <a:r>
              <a:rPr lang="en-US" sz="1000" dirty="0">
                <a:solidFill>
                  <a:srgbClr val="717171"/>
                </a:solidFill>
                <a:latin typeface="Calibri" pitchFamily="34" charset="0"/>
                <a:ea typeface="Calibri" pitchFamily="34" charset="-122"/>
                <a:cs typeface="Calibri" pitchFamily="34" charset="-120"/>
              </a:rPr>
              <a:t>Prioritize acquisitions in high-demand, premium neighborhoods</a:t>
            </a:r>
            <a:endParaRPr lang="en-US" sz="1000" dirty="0"/>
          </a:p>
          <a:p>
            <a:pPr marL="342900" indent="-342900">
              <a:lnSpc>
                <a:spcPct val="130000"/>
              </a:lnSpc>
              <a:buSzPct val="100000"/>
              <a:buChar char="•"/>
            </a:pPr>
            <a:r>
              <a:rPr lang="en-US" sz="1000" dirty="0">
                <a:solidFill>
                  <a:srgbClr val="717171"/>
                </a:solidFill>
                <a:latin typeface="Calibri" pitchFamily="34" charset="0"/>
                <a:ea typeface="Calibri" pitchFamily="34" charset="-122"/>
                <a:cs typeface="Calibri" pitchFamily="34" charset="-120"/>
              </a:rPr>
              <a:t>Favor entire-home properties with 4+ guest capacity</a:t>
            </a:r>
            <a:endParaRPr lang="en-US" sz="1000" dirty="0"/>
          </a:p>
        </p:txBody>
      </p:sp>
      <p:sp>
        <p:nvSpPr>
          <p:cNvPr id="13" name="Shape 9"/>
          <p:cNvSpPr/>
          <p:nvPr/>
        </p:nvSpPr>
        <p:spPr>
          <a:xfrm>
            <a:off x="3285744" y="1481328"/>
            <a:ext cx="2572512" cy="3063240"/>
          </a:xfrm>
          <a:prstGeom prst="roundRect">
            <a:avLst>
              <a:gd name="adj" fmla="val 319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4" name="Shape 10"/>
          <p:cNvSpPr/>
          <p:nvPr/>
        </p:nvSpPr>
        <p:spPr>
          <a:xfrm>
            <a:off x="3523488" y="1719072"/>
            <a:ext cx="548640" cy="548640"/>
          </a:xfrm>
          <a:prstGeom prst="ellipse">
            <a:avLst/>
          </a:prstGeom>
          <a:solidFill>
            <a:srgbClr val="FF385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655162" y="1850746"/>
            <a:ext cx="285293" cy="285293"/>
          </a:xfrm>
          <a:prstGeom prst="rect">
            <a:avLst/>
          </a:prstGeom>
        </p:spPr>
      </p:pic>
      <p:sp>
        <p:nvSpPr>
          <p:cNvPr id="16" name="Text 11"/>
          <p:cNvSpPr/>
          <p:nvPr/>
        </p:nvSpPr>
        <p:spPr>
          <a:xfrm>
            <a:off x="3523488" y="2395728"/>
            <a:ext cx="2097024" cy="365760"/>
          </a:xfrm>
          <a:prstGeom prst="rect">
            <a:avLst/>
          </a:prstGeom>
          <a:noFill/>
          <a:ln/>
        </p:spPr>
        <p:txBody>
          <a:bodyPr wrap="square" lIns="0" tIns="0" rIns="0" bIns="0" rtlCol="0" anchor="ctr"/>
          <a:lstStyle/>
          <a:p>
            <a:pPr marL="0" indent="0">
              <a:buNone/>
            </a:pPr>
            <a:r>
              <a:rPr lang="en-US" sz="1500" b="1" dirty="0">
                <a:solidFill>
                  <a:srgbClr val="191919"/>
                </a:solidFill>
                <a:latin typeface="Cambria" pitchFamily="34" charset="0"/>
                <a:ea typeface="Cambria" pitchFamily="34" charset="-122"/>
                <a:cs typeface="Cambria" pitchFamily="34" charset="-120"/>
              </a:rPr>
              <a:t>Pricing</a:t>
            </a:r>
            <a:endParaRPr lang="en-US" sz="1500" dirty="0"/>
          </a:p>
        </p:txBody>
      </p:sp>
      <p:sp>
        <p:nvSpPr>
          <p:cNvPr id="17" name="Text 12"/>
          <p:cNvSpPr/>
          <p:nvPr/>
        </p:nvSpPr>
        <p:spPr>
          <a:xfrm>
            <a:off x="3523488" y="2807208"/>
            <a:ext cx="2097024" cy="1600200"/>
          </a:xfrm>
          <a:prstGeom prst="rect">
            <a:avLst/>
          </a:prstGeom>
          <a:noFill/>
          <a:ln/>
        </p:spPr>
        <p:txBody>
          <a:bodyPr wrap="square" lIns="0" tIns="0" rIns="0" bIns="0" rtlCol="0" anchor="ctr"/>
          <a:lstStyle/>
          <a:p>
            <a:pPr marL="342900" indent="-342900">
              <a:lnSpc>
                <a:spcPct val="130000"/>
              </a:lnSpc>
              <a:buSzPct val="100000"/>
              <a:buChar char="•"/>
            </a:pPr>
            <a:r>
              <a:rPr lang="en-US" sz="1000" dirty="0">
                <a:solidFill>
                  <a:srgbClr val="717171"/>
                </a:solidFill>
                <a:latin typeface="Calibri" pitchFamily="34" charset="0"/>
                <a:ea typeface="Calibri" pitchFamily="34" charset="-122"/>
                <a:cs typeface="Calibri" pitchFamily="34" charset="-120"/>
              </a:rPr>
              <a:t>Anchor pricing on location tier, not just amenities</a:t>
            </a:r>
            <a:endParaRPr lang="en-US" sz="1000" dirty="0"/>
          </a:p>
          <a:p>
            <a:pPr marL="342900" indent="-342900">
              <a:lnSpc>
                <a:spcPct val="130000"/>
              </a:lnSpc>
              <a:buSzPct val="100000"/>
              <a:buChar char="•"/>
            </a:pPr>
            <a:r>
              <a:rPr lang="en-US" sz="1000" dirty="0">
                <a:solidFill>
                  <a:srgbClr val="717171"/>
                </a:solidFill>
                <a:latin typeface="Calibri" pitchFamily="34" charset="0"/>
                <a:ea typeface="Calibri" pitchFamily="34" charset="-122"/>
                <a:cs typeface="Calibri" pitchFamily="34" charset="-120"/>
              </a:rPr>
              <a:t>Apply modest weekend price increases</a:t>
            </a:r>
            <a:endParaRPr lang="en-US" sz="1000" dirty="0"/>
          </a:p>
          <a:p>
            <a:pPr marL="342900" indent="-342900">
              <a:lnSpc>
                <a:spcPct val="130000"/>
              </a:lnSpc>
              <a:buSzPct val="100000"/>
              <a:buChar char="•"/>
            </a:pPr>
            <a:r>
              <a:rPr lang="en-US" sz="1000" dirty="0">
                <a:solidFill>
                  <a:srgbClr val="717171"/>
                </a:solidFill>
                <a:latin typeface="Calibri" pitchFamily="34" charset="0"/>
                <a:ea typeface="Calibri" pitchFamily="34" charset="-122"/>
                <a:cs typeface="Calibri" pitchFamily="34" charset="-120"/>
              </a:rPr>
              <a:t>De-emphasize superhost badges as a pricing lever</a:t>
            </a:r>
            <a:endParaRPr lang="en-US" sz="1000" dirty="0"/>
          </a:p>
        </p:txBody>
      </p:sp>
      <p:sp>
        <p:nvSpPr>
          <p:cNvPr id="18" name="Shape 13"/>
          <p:cNvSpPr/>
          <p:nvPr/>
        </p:nvSpPr>
        <p:spPr>
          <a:xfrm>
            <a:off x="6114288" y="1481328"/>
            <a:ext cx="2572512" cy="3063240"/>
          </a:xfrm>
          <a:prstGeom prst="roundRect">
            <a:avLst>
              <a:gd name="adj" fmla="val 3199"/>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9" name="Shape 14"/>
          <p:cNvSpPr/>
          <p:nvPr/>
        </p:nvSpPr>
        <p:spPr>
          <a:xfrm>
            <a:off x="6352032" y="1719072"/>
            <a:ext cx="548640" cy="548640"/>
          </a:xfrm>
          <a:prstGeom prst="ellipse">
            <a:avLst/>
          </a:prstGeom>
          <a:solidFill>
            <a:srgbClr val="FF385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483706" y="1850746"/>
            <a:ext cx="285293" cy="285293"/>
          </a:xfrm>
          <a:prstGeom prst="rect">
            <a:avLst/>
          </a:prstGeom>
        </p:spPr>
      </p:pic>
      <p:sp>
        <p:nvSpPr>
          <p:cNvPr id="21" name="Text 15"/>
          <p:cNvSpPr/>
          <p:nvPr/>
        </p:nvSpPr>
        <p:spPr>
          <a:xfrm>
            <a:off x="6352032" y="2395728"/>
            <a:ext cx="2097024" cy="365760"/>
          </a:xfrm>
          <a:prstGeom prst="rect">
            <a:avLst/>
          </a:prstGeom>
          <a:noFill/>
          <a:ln/>
        </p:spPr>
        <p:txBody>
          <a:bodyPr wrap="square" lIns="0" tIns="0" rIns="0" bIns="0" rtlCol="0" anchor="ctr"/>
          <a:lstStyle/>
          <a:p>
            <a:pPr marL="0" indent="0">
              <a:buNone/>
            </a:pPr>
            <a:r>
              <a:rPr lang="en-US" sz="1500" b="1" dirty="0">
                <a:solidFill>
                  <a:srgbClr val="191919"/>
                </a:solidFill>
                <a:latin typeface="Cambria" pitchFamily="34" charset="0"/>
                <a:ea typeface="Cambria" pitchFamily="34" charset="-122"/>
                <a:cs typeface="Cambria" pitchFamily="34" charset="-120"/>
              </a:rPr>
              <a:t>Future Improvements</a:t>
            </a:r>
            <a:endParaRPr lang="en-US" sz="1500" dirty="0"/>
          </a:p>
        </p:txBody>
      </p:sp>
      <p:sp>
        <p:nvSpPr>
          <p:cNvPr id="22" name="Text 16"/>
          <p:cNvSpPr/>
          <p:nvPr/>
        </p:nvSpPr>
        <p:spPr>
          <a:xfrm>
            <a:off x="6352032" y="2807208"/>
            <a:ext cx="2097024" cy="1600200"/>
          </a:xfrm>
          <a:prstGeom prst="rect">
            <a:avLst/>
          </a:prstGeom>
          <a:noFill/>
          <a:ln/>
        </p:spPr>
        <p:txBody>
          <a:bodyPr wrap="square" lIns="0" tIns="0" rIns="0" bIns="0" rtlCol="0" anchor="ctr"/>
          <a:lstStyle/>
          <a:p>
            <a:pPr marL="342900" indent="-342900">
              <a:lnSpc>
                <a:spcPct val="130000"/>
              </a:lnSpc>
              <a:buSzPct val="100000"/>
              <a:buChar char="•"/>
            </a:pPr>
            <a:r>
              <a:rPr lang="en-US" sz="1000" dirty="0">
                <a:solidFill>
                  <a:srgbClr val="717171"/>
                </a:solidFill>
                <a:latin typeface="Calibri" pitchFamily="34" charset="0"/>
                <a:ea typeface="Calibri" pitchFamily="34" charset="-122"/>
                <a:cs typeface="Calibri" pitchFamily="34" charset="-120"/>
              </a:rPr>
              <a:t>Automate dynamic pricing using engineered features</a:t>
            </a:r>
            <a:endParaRPr lang="en-US" sz="1000" dirty="0"/>
          </a:p>
          <a:p>
            <a:pPr marL="342900" indent="-342900">
              <a:lnSpc>
                <a:spcPct val="130000"/>
              </a:lnSpc>
              <a:buSzPct val="100000"/>
              <a:buChar char="•"/>
            </a:pPr>
            <a:r>
              <a:rPr lang="en-US" sz="1000" dirty="0">
                <a:solidFill>
                  <a:srgbClr val="717171"/>
                </a:solidFill>
                <a:latin typeface="Calibri" pitchFamily="34" charset="0"/>
                <a:ea typeface="Calibri" pitchFamily="34" charset="-122"/>
                <a:cs typeface="Calibri" pitchFamily="34" charset="-120"/>
              </a:rPr>
              <a:t>Expand tracking to review sentiment and seasonality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10 · ROADMAP</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Future Enhancements</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11</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457200" y="1554480"/>
            <a:ext cx="1906524" cy="2743200"/>
          </a:xfrm>
          <a:prstGeom prst="roundRect">
            <a:avLst>
              <a:gd name="adj" fmla="val 3837"/>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1136142" y="1810512"/>
            <a:ext cx="548640" cy="548640"/>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267816" y="1942186"/>
            <a:ext cx="285293" cy="285293"/>
          </a:xfrm>
          <a:prstGeom prst="rect">
            <a:avLst/>
          </a:prstGeom>
        </p:spPr>
      </p:pic>
      <p:sp>
        <p:nvSpPr>
          <p:cNvPr id="11" name="Text 7"/>
          <p:cNvSpPr/>
          <p:nvPr/>
        </p:nvSpPr>
        <p:spPr>
          <a:xfrm>
            <a:off x="585216" y="2542032"/>
            <a:ext cx="1650492" cy="502920"/>
          </a:xfrm>
          <a:prstGeom prst="rect">
            <a:avLst/>
          </a:prstGeom>
          <a:noFill/>
          <a:ln/>
        </p:spPr>
        <p:txBody>
          <a:bodyPr wrap="square" lIns="0" tIns="0" rIns="0" bIns="0" rtlCol="0" anchor="ctr"/>
          <a:lstStyle/>
          <a:p>
            <a:pPr marL="0" indent="0" algn="ctr">
              <a:buNone/>
            </a:pPr>
            <a:r>
              <a:rPr lang="en-US" sz="1200" b="1" dirty="0">
                <a:solidFill>
                  <a:srgbClr val="191919"/>
                </a:solidFill>
                <a:latin typeface="Cambria" pitchFamily="34" charset="0"/>
                <a:ea typeface="Cambria" pitchFamily="34" charset="-122"/>
                <a:cs typeface="Cambria" pitchFamily="34" charset="-120"/>
              </a:rPr>
              <a:t>Web Scraping</a:t>
            </a:r>
            <a:endParaRPr lang="en-US" sz="1200" dirty="0"/>
          </a:p>
        </p:txBody>
      </p:sp>
      <p:sp>
        <p:nvSpPr>
          <p:cNvPr id="12" name="Text 8"/>
          <p:cNvSpPr/>
          <p:nvPr/>
        </p:nvSpPr>
        <p:spPr>
          <a:xfrm>
            <a:off x="603504" y="3017520"/>
            <a:ext cx="1613916" cy="1143000"/>
          </a:xfrm>
          <a:prstGeom prst="rect">
            <a:avLst/>
          </a:prstGeom>
          <a:noFill/>
          <a:ln/>
        </p:spPr>
        <p:txBody>
          <a:bodyPr wrap="square" lIns="0" tIns="0" rIns="0" bIns="0" rtlCol="0" anchor="ctr"/>
          <a:lstStyle/>
          <a:p>
            <a:pPr marL="0" indent="0" algn="ctr">
              <a:lnSpc>
                <a:spcPct val="120000"/>
              </a:lnSpc>
              <a:buNone/>
            </a:pPr>
            <a:r>
              <a:rPr lang="en-US" sz="900" dirty="0">
                <a:solidFill>
                  <a:srgbClr val="717171"/>
                </a:solidFill>
                <a:latin typeface="Calibri" pitchFamily="34" charset="0"/>
                <a:ea typeface="Calibri" pitchFamily="34" charset="-122"/>
                <a:cs typeface="Calibri" pitchFamily="34" charset="-120"/>
              </a:rPr>
              <a:t>Automate ongoing collection of live listing data to keep the warehouse current.</a:t>
            </a:r>
            <a:endParaRPr lang="en-US" sz="900" dirty="0"/>
          </a:p>
        </p:txBody>
      </p:sp>
      <p:sp>
        <p:nvSpPr>
          <p:cNvPr id="13" name="Shape 9"/>
          <p:cNvSpPr/>
          <p:nvPr/>
        </p:nvSpPr>
        <p:spPr>
          <a:xfrm>
            <a:off x="2564892" y="1554480"/>
            <a:ext cx="1906524" cy="2743200"/>
          </a:xfrm>
          <a:prstGeom prst="roundRect">
            <a:avLst>
              <a:gd name="adj" fmla="val 3837"/>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4" name="Shape 10"/>
          <p:cNvSpPr/>
          <p:nvPr/>
        </p:nvSpPr>
        <p:spPr>
          <a:xfrm>
            <a:off x="3243834" y="1810512"/>
            <a:ext cx="548640" cy="548640"/>
          </a:xfrm>
          <a:prstGeom prst="ellipse">
            <a:avLst/>
          </a:prstGeom>
          <a:solidFill>
            <a:srgbClr val="FF385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3375508" y="1942186"/>
            <a:ext cx="285293" cy="285293"/>
          </a:xfrm>
          <a:prstGeom prst="rect">
            <a:avLst/>
          </a:prstGeom>
        </p:spPr>
      </p:pic>
      <p:sp>
        <p:nvSpPr>
          <p:cNvPr id="16" name="Text 11"/>
          <p:cNvSpPr/>
          <p:nvPr/>
        </p:nvSpPr>
        <p:spPr>
          <a:xfrm>
            <a:off x="2692908" y="2542032"/>
            <a:ext cx="1650492" cy="502920"/>
          </a:xfrm>
          <a:prstGeom prst="rect">
            <a:avLst/>
          </a:prstGeom>
          <a:noFill/>
          <a:ln/>
        </p:spPr>
        <p:txBody>
          <a:bodyPr wrap="square" lIns="0" tIns="0" rIns="0" bIns="0" rtlCol="0" anchor="ctr"/>
          <a:lstStyle/>
          <a:p>
            <a:pPr marL="0" indent="0" algn="ctr">
              <a:buNone/>
            </a:pPr>
            <a:r>
              <a:rPr lang="en-US" sz="1200" b="1" dirty="0">
                <a:solidFill>
                  <a:srgbClr val="191919"/>
                </a:solidFill>
                <a:latin typeface="Cambria" pitchFamily="34" charset="0"/>
                <a:ea typeface="Cambria" pitchFamily="34" charset="-122"/>
                <a:cs typeface="Cambria" pitchFamily="34" charset="-120"/>
              </a:rPr>
              <a:t>ML Price Prediction</a:t>
            </a:r>
            <a:endParaRPr lang="en-US" sz="1200" dirty="0"/>
          </a:p>
        </p:txBody>
      </p:sp>
      <p:sp>
        <p:nvSpPr>
          <p:cNvPr id="17" name="Text 12"/>
          <p:cNvSpPr/>
          <p:nvPr/>
        </p:nvSpPr>
        <p:spPr>
          <a:xfrm>
            <a:off x="2711196" y="3017520"/>
            <a:ext cx="1613916" cy="1143000"/>
          </a:xfrm>
          <a:prstGeom prst="rect">
            <a:avLst/>
          </a:prstGeom>
          <a:noFill/>
          <a:ln/>
        </p:spPr>
        <p:txBody>
          <a:bodyPr wrap="square" lIns="0" tIns="0" rIns="0" bIns="0" rtlCol="0" anchor="ctr"/>
          <a:lstStyle/>
          <a:p>
            <a:pPr marL="0" indent="0" algn="ctr">
              <a:lnSpc>
                <a:spcPct val="120000"/>
              </a:lnSpc>
              <a:buNone/>
            </a:pPr>
            <a:r>
              <a:rPr lang="en-US" sz="900" dirty="0">
                <a:solidFill>
                  <a:srgbClr val="717171"/>
                </a:solidFill>
                <a:latin typeface="Calibri" pitchFamily="34" charset="0"/>
                <a:ea typeface="Calibri" pitchFamily="34" charset="-122"/>
                <a:cs typeface="Calibri" pitchFamily="34" charset="-120"/>
              </a:rPr>
              <a:t>Train regression/ensemble models to recommend optimal nightly pricing.</a:t>
            </a:r>
            <a:endParaRPr lang="en-US" sz="900" dirty="0"/>
          </a:p>
        </p:txBody>
      </p:sp>
      <p:sp>
        <p:nvSpPr>
          <p:cNvPr id="18" name="Shape 13"/>
          <p:cNvSpPr/>
          <p:nvPr/>
        </p:nvSpPr>
        <p:spPr>
          <a:xfrm>
            <a:off x="4672584" y="1554480"/>
            <a:ext cx="1906524" cy="2743200"/>
          </a:xfrm>
          <a:prstGeom prst="roundRect">
            <a:avLst>
              <a:gd name="adj" fmla="val 3837"/>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9" name="Shape 14"/>
          <p:cNvSpPr/>
          <p:nvPr/>
        </p:nvSpPr>
        <p:spPr>
          <a:xfrm>
            <a:off x="5351526" y="1810512"/>
            <a:ext cx="548640" cy="548640"/>
          </a:xfrm>
          <a:prstGeom prst="ellipse">
            <a:avLst/>
          </a:prstGeom>
          <a:solidFill>
            <a:srgbClr val="FF385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5483200" y="1942186"/>
            <a:ext cx="285293" cy="285293"/>
          </a:xfrm>
          <a:prstGeom prst="rect">
            <a:avLst/>
          </a:prstGeom>
        </p:spPr>
      </p:pic>
      <p:sp>
        <p:nvSpPr>
          <p:cNvPr id="21" name="Text 15"/>
          <p:cNvSpPr/>
          <p:nvPr/>
        </p:nvSpPr>
        <p:spPr>
          <a:xfrm>
            <a:off x="4800600" y="2542032"/>
            <a:ext cx="1650492" cy="502920"/>
          </a:xfrm>
          <a:prstGeom prst="rect">
            <a:avLst/>
          </a:prstGeom>
          <a:noFill/>
          <a:ln/>
        </p:spPr>
        <p:txBody>
          <a:bodyPr wrap="square" lIns="0" tIns="0" rIns="0" bIns="0" rtlCol="0" anchor="ctr"/>
          <a:lstStyle/>
          <a:p>
            <a:pPr marL="0" indent="0" algn="ctr">
              <a:buNone/>
            </a:pPr>
            <a:r>
              <a:rPr lang="en-US" sz="1200" b="1" dirty="0">
                <a:solidFill>
                  <a:srgbClr val="191919"/>
                </a:solidFill>
                <a:latin typeface="Cambria" pitchFamily="34" charset="0"/>
                <a:ea typeface="Cambria" pitchFamily="34" charset="-122"/>
                <a:cs typeface="Cambria" pitchFamily="34" charset="-120"/>
              </a:rPr>
              <a:t>Time-Series Analysis</a:t>
            </a:r>
            <a:endParaRPr lang="en-US" sz="1200" dirty="0"/>
          </a:p>
        </p:txBody>
      </p:sp>
      <p:sp>
        <p:nvSpPr>
          <p:cNvPr id="22" name="Text 16"/>
          <p:cNvSpPr/>
          <p:nvPr/>
        </p:nvSpPr>
        <p:spPr>
          <a:xfrm>
            <a:off x="4818888" y="3017520"/>
            <a:ext cx="1613916" cy="1143000"/>
          </a:xfrm>
          <a:prstGeom prst="rect">
            <a:avLst/>
          </a:prstGeom>
          <a:noFill/>
          <a:ln/>
        </p:spPr>
        <p:txBody>
          <a:bodyPr wrap="square" lIns="0" tIns="0" rIns="0" bIns="0" rtlCol="0" anchor="ctr"/>
          <a:lstStyle/>
          <a:p>
            <a:pPr marL="0" indent="0" algn="ctr">
              <a:lnSpc>
                <a:spcPct val="120000"/>
              </a:lnSpc>
              <a:buNone/>
            </a:pPr>
            <a:r>
              <a:rPr lang="en-US" sz="900" dirty="0">
                <a:solidFill>
                  <a:srgbClr val="717171"/>
                </a:solidFill>
                <a:latin typeface="Calibri" pitchFamily="34" charset="0"/>
                <a:ea typeface="Calibri" pitchFamily="34" charset="-122"/>
                <a:cs typeface="Calibri" pitchFamily="34" charset="-120"/>
              </a:rPr>
              <a:t>Model seasonality and booking trends to anticipate demand cycles.</a:t>
            </a:r>
            <a:endParaRPr lang="en-US" sz="900" dirty="0"/>
          </a:p>
        </p:txBody>
      </p:sp>
      <p:sp>
        <p:nvSpPr>
          <p:cNvPr id="23" name="Shape 17"/>
          <p:cNvSpPr/>
          <p:nvPr/>
        </p:nvSpPr>
        <p:spPr>
          <a:xfrm>
            <a:off x="6780276" y="1554480"/>
            <a:ext cx="1906524" cy="2743200"/>
          </a:xfrm>
          <a:prstGeom prst="roundRect">
            <a:avLst>
              <a:gd name="adj" fmla="val 3837"/>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4" name="Shape 18"/>
          <p:cNvSpPr/>
          <p:nvPr/>
        </p:nvSpPr>
        <p:spPr>
          <a:xfrm>
            <a:off x="7459218" y="1810512"/>
            <a:ext cx="548640" cy="548640"/>
          </a:xfrm>
          <a:prstGeom prst="ellipse">
            <a:avLst/>
          </a:prstGeom>
          <a:solidFill>
            <a:srgbClr val="FF385C"/>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7590892" y="1942186"/>
            <a:ext cx="285293" cy="285293"/>
          </a:xfrm>
          <a:prstGeom prst="rect">
            <a:avLst/>
          </a:prstGeom>
        </p:spPr>
      </p:pic>
      <p:sp>
        <p:nvSpPr>
          <p:cNvPr id="26" name="Text 19"/>
          <p:cNvSpPr/>
          <p:nvPr/>
        </p:nvSpPr>
        <p:spPr>
          <a:xfrm>
            <a:off x="6908292" y="2542032"/>
            <a:ext cx="1650492" cy="502920"/>
          </a:xfrm>
          <a:prstGeom prst="rect">
            <a:avLst/>
          </a:prstGeom>
          <a:noFill/>
          <a:ln/>
        </p:spPr>
        <p:txBody>
          <a:bodyPr wrap="square" lIns="0" tIns="0" rIns="0" bIns="0" rtlCol="0" anchor="ctr"/>
          <a:lstStyle/>
          <a:p>
            <a:pPr marL="0" indent="0" algn="ctr">
              <a:buNone/>
            </a:pPr>
            <a:r>
              <a:rPr lang="en-US" sz="1200" b="1" dirty="0">
                <a:solidFill>
                  <a:srgbClr val="191919"/>
                </a:solidFill>
                <a:latin typeface="Cambria" pitchFamily="34" charset="0"/>
                <a:ea typeface="Cambria" pitchFamily="34" charset="-122"/>
                <a:cs typeface="Cambria" pitchFamily="34" charset="-120"/>
              </a:rPr>
              <a:t>Interactive Forecasting</a:t>
            </a:r>
            <a:endParaRPr lang="en-US" sz="1200" dirty="0"/>
          </a:p>
        </p:txBody>
      </p:sp>
      <p:sp>
        <p:nvSpPr>
          <p:cNvPr id="27" name="Text 20"/>
          <p:cNvSpPr/>
          <p:nvPr/>
        </p:nvSpPr>
        <p:spPr>
          <a:xfrm>
            <a:off x="6926580" y="3017520"/>
            <a:ext cx="1613916" cy="1143000"/>
          </a:xfrm>
          <a:prstGeom prst="rect">
            <a:avLst/>
          </a:prstGeom>
          <a:noFill/>
          <a:ln/>
        </p:spPr>
        <p:txBody>
          <a:bodyPr wrap="square" lIns="0" tIns="0" rIns="0" bIns="0" rtlCol="0" anchor="ctr"/>
          <a:lstStyle/>
          <a:p>
            <a:pPr marL="0" indent="0" algn="ctr">
              <a:lnSpc>
                <a:spcPct val="120000"/>
              </a:lnSpc>
              <a:buNone/>
            </a:pPr>
            <a:r>
              <a:rPr lang="en-US" sz="900" dirty="0">
                <a:solidFill>
                  <a:srgbClr val="717171"/>
                </a:solidFill>
                <a:latin typeface="Calibri" pitchFamily="34" charset="0"/>
                <a:ea typeface="Calibri" pitchFamily="34" charset="-122"/>
                <a:cs typeface="Calibri" pitchFamily="34" charset="-120"/>
              </a:rPr>
              <a:t>Embed what-if forecasting tools directly into the Power BI dashboard.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457200" y="384048"/>
            <a:ext cx="7772400" cy="274320"/>
          </a:xfrm>
          <a:prstGeom prst="rect">
            <a:avLst/>
          </a:prstGeom>
          <a:noFill/>
          <a:ln/>
        </p:spPr>
        <p:txBody>
          <a:bodyPr wrap="square" lIns="0" tIns="0" rIns="0" bIns="0" rtlCol="0" anchor="ctr"/>
          <a:lstStyle/>
          <a:p>
            <a:pPr marL="0" indent="0">
              <a:buNone/>
            </a:pPr>
            <a:r>
              <a:rPr lang="en-US" sz="1100" b="1" kern="0" spc="200" dirty="0">
                <a:solidFill>
                  <a:srgbClr val="FF385C"/>
                </a:solidFill>
                <a:latin typeface="Calibri" pitchFamily="34" charset="0"/>
                <a:ea typeface="Calibri" pitchFamily="34" charset="-122"/>
                <a:cs typeface="Calibri" pitchFamily="34" charset="-120"/>
              </a:rPr>
              <a:t>11 · CAPABILITIES</a:t>
            </a:r>
            <a:endParaRPr lang="en-US" sz="1100" dirty="0"/>
          </a:p>
        </p:txBody>
      </p:sp>
      <p:sp>
        <p:nvSpPr>
          <p:cNvPr id="3" name="Text 1"/>
          <p:cNvSpPr/>
          <p:nvPr/>
        </p:nvSpPr>
        <p:spPr>
          <a:xfrm>
            <a:off x="457200" y="640080"/>
            <a:ext cx="7955280" cy="640080"/>
          </a:xfrm>
          <a:prstGeom prst="rect">
            <a:avLst/>
          </a:prstGeom>
          <a:noFill/>
          <a:ln/>
        </p:spPr>
        <p:txBody>
          <a:bodyPr wrap="square" lIns="0" tIns="0" rIns="0" bIns="0" rtlCol="0" anchor="ctr"/>
          <a:lstStyle/>
          <a:p>
            <a:pPr marL="0" indent="0">
              <a:buNone/>
            </a:pPr>
            <a:r>
              <a:rPr lang="en-US" sz="3000" b="1" dirty="0">
                <a:solidFill>
                  <a:srgbClr val="191919"/>
                </a:solidFill>
                <a:latin typeface="Cambria" pitchFamily="34" charset="0"/>
                <a:ea typeface="Cambria" pitchFamily="34" charset="-122"/>
                <a:cs typeface="Cambria" pitchFamily="34" charset="-120"/>
              </a:rPr>
              <a:t>Skills Demonstrated</a:t>
            </a:r>
            <a:endParaRPr lang="en-US" sz="3000" dirty="0"/>
          </a:p>
        </p:txBody>
      </p:sp>
      <p:sp>
        <p:nvSpPr>
          <p:cNvPr id="4" name="Text 2"/>
          <p:cNvSpPr/>
          <p:nvPr/>
        </p:nvSpPr>
        <p:spPr>
          <a:xfrm>
            <a:off x="457200" y="4796028"/>
            <a:ext cx="4572000" cy="274320"/>
          </a:xfrm>
          <a:prstGeom prst="rect">
            <a:avLst/>
          </a:prstGeom>
          <a:noFill/>
          <a:ln/>
        </p:spPr>
        <p:txBody>
          <a:bodyPr wrap="square" lIns="0" tIns="0" rIns="0" bIns="0" rtlCol="0" anchor="ctr"/>
          <a:lstStyle/>
          <a:p>
            <a:pPr marL="0" indent="0">
              <a:buNone/>
            </a:pPr>
            <a:r>
              <a:rPr lang="en-US" sz="800" kern="0" spc="150" dirty="0">
                <a:solidFill>
                  <a:srgbClr val="B0B0B0"/>
                </a:solidFill>
                <a:latin typeface="Calibri" pitchFamily="34" charset="0"/>
                <a:ea typeface="Calibri" pitchFamily="34" charset="-122"/>
                <a:cs typeface="Calibri" pitchFamily="34" charset="-120"/>
              </a:rPr>
              <a:t>AIRBNB ANALYTICS &amp; BI DASHBOARD</a:t>
            </a:r>
            <a:endParaRPr lang="en-US" sz="800" dirty="0"/>
          </a:p>
        </p:txBody>
      </p:sp>
      <p:sp>
        <p:nvSpPr>
          <p:cNvPr id="5" name="Text 3"/>
          <p:cNvSpPr/>
          <p:nvPr/>
        </p:nvSpPr>
        <p:spPr>
          <a:xfrm>
            <a:off x="8229600" y="4796028"/>
            <a:ext cx="457200" cy="274320"/>
          </a:xfrm>
          <a:prstGeom prst="rect">
            <a:avLst/>
          </a:prstGeom>
          <a:noFill/>
          <a:ln/>
        </p:spPr>
        <p:txBody>
          <a:bodyPr wrap="square" lIns="0" tIns="0" rIns="0" bIns="0" rtlCol="0" anchor="ctr"/>
          <a:lstStyle/>
          <a:p>
            <a:pPr marL="0" indent="0" algn="r">
              <a:buNone/>
            </a:pPr>
            <a:r>
              <a:rPr lang="en-US" sz="800" dirty="0">
                <a:solidFill>
                  <a:srgbClr val="B0B0B0"/>
                </a:solidFill>
                <a:latin typeface="Calibri" pitchFamily="34" charset="0"/>
                <a:ea typeface="Calibri" pitchFamily="34" charset="-122"/>
                <a:cs typeface="Calibri" pitchFamily="34" charset="-120"/>
              </a:rPr>
              <a:t>12</a:t>
            </a:r>
            <a:endParaRPr lang="en-US" sz="800" dirty="0"/>
          </a:p>
        </p:txBody>
      </p:sp>
      <p:sp>
        <p:nvSpPr>
          <p:cNvPr id="6" name="Shape 4"/>
          <p:cNvSpPr/>
          <p:nvPr/>
        </p:nvSpPr>
        <p:spPr>
          <a:xfrm>
            <a:off x="8577072" y="4576572"/>
            <a:ext cx="310896" cy="310896"/>
          </a:xfrm>
          <a:prstGeom prst="ellipse">
            <a:avLst/>
          </a:prstGeom>
          <a:solidFill>
            <a:srgbClr val="FFFFF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47024" y="4646524"/>
            <a:ext cx="170993" cy="170993"/>
          </a:xfrm>
          <a:prstGeom prst="rect">
            <a:avLst/>
          </a:prstGeom>
        </p:spPr>
      </p:pic>
      <p:sp>
        <p:nvSpPr>
          <p:cNvPr id="8" name="Shape 5"/>
          <p:cNvSpPr/>
          <p:nvPr/>
        </p:nvSpPr>
        <p:spPr>
          <a:xfrm>
            <a:off x="457200" y="1508760"/>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9" name="Shape 6"/>
          <p:cNvSpPr/>
          <p:nvPr/>
        </p:nvSpPr>
        <p:spPr>
          <a:xfrm>
            <a:off x="621792" y="1719072"/>
            <a:ext cx="512064" cy="512064"/>
          </a:xfrm>
          <a:prstGeom prst="ellipse">
            <a:avLst/>
          </a:prstGeom>
          <a:solidFill>
            <a:srgbClr val="FF385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44687" y="1841967"/>
            <a:ext cx="266273" cy="266273"/>
          </a:xfrm>
          <a:prstGeom prst="rect">
            <a:avLst/>
          </a:prstGeom>
        </p:spPr>
      </p:pic>
      <p:sp>
        <p:nvSpPr>
          <p:cNvPr id="11" name="Text 7"/>
          <p:cNvSpPr/>
          <p:nvPr/>
        </p:nvSpPr>
        <p:spPr>
          <a:xfrm>
            <a:off x="1298448" y="1508760"/>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Python</a:t>
            </a:r>
            <a:endParaRPr lang="en-US" sz="1250" dirty="0"/>
          </a:p>
        </p:txBody>
      </p:sp>
      <p:sp>
        <p:nvSpPr>
          <p:cNvPr id="12" name="Shape 8"/>
          <p:cNvSpPr/>
          <p:nvPr/>
        </p:nvSpPr>
        <p:spPr>
          <a:xfrm>
            <a:off x="3285744" y="1508760"/>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3" name="Shape 9"/>
          <p:cNvSpPr/>
          <p:nvPr/>
        </p:nvSpPr>
        <p:spPr>
          <a:xfrm>
            <a:off x="3450336" y="1719072"/>
            <a:ext cx="512064" cy="512064"/>
          </a:xfrm>
          <a:prstGeom prst="ellipse">
            <a:avLst/>
          </a:prstGeom>
          <a:solidFill>
            <a:srgbClr val="FF385C"/>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3573231" y="1841967"/>
            <a:ext cx="266273" cy="266273"/>
          </a:xfrm>
          <a:prstGeom prst="rect">
            <a:avLst/>
          </a:prstGeom>
        </p:spPr>
      </p:pic>
      <p:sp>
        <p:nvSpPr>
          <p:cNvPr id="15" name="Text 10"/>
          <p:cNvSpPr/>
          <p:nvPr/>
        </p:nvSpPr>
        <p:spPr>
          <a:xfrm>
            <a:off x="4126992" y="1508760"/>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SQL</a:t>
            </a:r>
            <a:endParaRPr lang="en-US" sz="1250" dirty="0"/>
          </a:p>
        </p:txBody>
      </p:sp>
      <p:sp>
        <p:nvSpPr>
          <p:cNvPr id="16" name="Shape 11"/>
          <p:cNvSpPr/>
          <p:nvPr/>
        </p:nvSpPr>
        <p:spPr>
          <a:xfrm>
            <a:off x="6114288" y="1508760"/>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17" name="Shape 12"/>
          <p:cNvSpPr/>
          <p:nvPr/>
        </p:nvSpPr>
        <p:spPr>
          <a:xfrm>
            <a:off x="6278880" y="1719072"/>
            <a:ext cx="512064" cy="512064"/>
          </a:xfrm>
          <a:prstGeom prst="ellipse">
            <a:avLst/>
          </a:prstGeom>
          <a:solidFill>
            <a:srgbClr val="FF385C"/>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401775" y="1841967"/>
            <a:ext cx="266273" cy="266273"/>
          </a:xfrm>
          <a:prstGeom prst="rect">
            <a:avLst/>
          </a:prstGeom>
        </p:spPr>
      </p:pic>
      <p:sp>
        <p:nvSpPr>
          <p:cNvPr id="19" name="Text 13"/>
          <p:cNvSpPr/>
          <p:nvPr/>
        </p:nvSpPr>
        <p:spPr>
          <a:xfrm>
            <a:off x="6955536" y="1508760"/>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Power BI</a:t>
            </a:r>
            <a:endParaRPr lang="en-US" sz="1250" dirty="0"/>
          </a:p>
        </p:txBody>
      </p:sp>
      <p:sp>
        <p:nvSpPr>
          <p:cNvPr id="20" name="Shape 14"/>
          <p:cNvSpPr/>
          <p:nvPr/>
        </p:nvSpPr>
        <p:spPr>
          <a:xfrm>
            <a:off x="457200" y="2624328"/>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1" name="Shape 15"/>
          <p:cNvSpPr/>
          <p:nvPr/>
        </p:nvSpPr>
        <p:spPr>
          <a:xfrm>
            <a:off x="621792" y="2834640"/>
            <a:ext cx="512064" cy="512064"/>
          </a:xfrm>
          <a:prstGeom prst="ellipse">
            <a:avLst/>
          </a:prstGeom>
          <a:solidFill>
            <a:srgbClr val="FF385C"/>
          </a:solidFill>
          <a:ln/>
        </p:spPr>
        <p:txBody>
          <a:bodyPr/>
          <a:lstStyle/>
          <a:p>
            <a:endParaRPr lang="en-US"/>
          </a:p>
        </p:txBody>
      </p:sp>
      <p:pic>
        <p:nvPicPr>
          <p:cNvPr id="22" name="Image 4" descr="preencoded.png"/>
          <p:cNvPicPr>
            <a:picLocks noChangeAspect="1"/>
          </p:cNvPicPr>
          <p:nvPr/>
        </p:nvPicPr>
        <p:blipFill>
          <a:blip r:embed="rId7"/>
          <a:stretch>
            <a:fillRect/>
          </a:stretch>
        </p:blipFill>
        <p:spPr>
          <a:xfrm>
            <a:off x="744687" y="2957535"/>
            <a:ext cx="266273" cy="266273"/>
          </a:xfrm>
          <a:prstGeom prst="rect">
            <a:avLst/>
          </a:prstGeom>
        </p:spPr>
      </p:pic>
      <p:sp>
        <p:nvSpPr>
          <p:cNvPr id="23" name="Text 16"/>
          <p:cNvSpPr/>
          <p:nvPr/>
        </p:nvSpPr>
        <p:spPr>
          <a:xfrm>
            <a:off x="1298448" y="2624328"/>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DAX</a:t>
            </a:r>
            <a:endParaRPr lang="en-US" sz="1250" dirty="0"/>
          </a:p>
        </p:txBody>
      </p:sp>
      <p:sp>
        <p:nvSpPr>
          <p:cNvPr id="24" name="Shape 17"/>
          <p:cNvSpPr/>
          <p:nvPr/>
        </p:nvSpPr>
        <p:spPr>
          <a:xfrm>
            <a:off x="3285744" y="2624328"/>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5" name="Shape 18"/>
          <p:cNvSpPr/>
          <p:nvPr/>
        </p:nvSpPr>
        <p:spPr>
          <a:xfrm>
            <a:off x="3450336" y="2834640"/>
            <a:ext cx="512064" cy="512064"/>
          </a:xfrm>
          <a:prstGeom prst="ellipse">
            <a:avLst/>
          </a:prstGeom>
          <a:solidFill>
            <a:srgbClr val="FF385C"/>
          </a:solidFill>
          <a:ln/>
        </p:spPr>
        <p:txBody>
          <a:bodyPr/>
          <a:lstStyle/>
          <a:p>
            <a:endParaRPr lang="en-US"/>
          </a:p>
        </p:txBody>
      </p:sp>
      <p:pic>
        <p:nvPicPr>
          <p:cNvPr id="26" name="Image 5" descr="preencoded.png"/>
          <p:cNvPicPr>
            <a:picLocks noChangeAspect="1"/>
          </p:cNvPicPr>
          <p:nvPr/>
        </p:nvPicPr>
        <p:blipFill>
          <a:blip r:embed="rId8"/>
          <a:stretch>
            <a:fillRect/>
          </a:stretch>
        </p:blipFill>
        <p:spPr>
          <a:xfrm>
            <a:off x="3573231" y="2957535"/>
            <a:ext cx="266273" cy="266273"/>
          </a:xfrm>
          <a:prstGeom prst="rect">
            <a:avLst/>
          </a:prstGeom>
        </p:spPr>
      </p:pic>
      <p:sp>
        <p:nvSpPr>
          <p:cNvPr id="27" name="Text 19"/>
          <p:cNvSpPr/>
          <p:nvPr/>
        </p:nvSpPr>
        <p:spPr>
          <a:xfrm>
            <a:off x="4126992" y="2624328"/>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EDA</a:t>
            </a:r>
            <a:endParaRPr lang="en-US" sz="1250" dirty="0"/>
          </a:p>
        </p:txBody>
      </p:sp>
      <p:sp>
        <p:nvSpPr>
          <p:cNvPr id="28" name="Shape 20"/>
          <p:cNvSpPr/>
          <p:nvPr/>
        </p:nvSpPr>
        <p:spPr>
          <a:xfrm>
            <a:off x="6114288" y="2624328"/>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29" name="Shape 21"/>
          <p:cNvSpPr/>
          <p:nvPr/>
        </p:nvSpPr>
        <p:spPr>
          <a:xfrm>
            <a:off x="6278880" y="2834640"/>
            <a:ext cx="512064" cy="512064"/>
          </a:xfrm>
          <a:prstGeom prst="ellipse">
            <a:avLst/>
          </a:prstGeom>
          <a:solidFill>
            <a:srgbClr val="FF385C"/>
          </a:solidFill>
          <a:ln/>
        </p:spPr>
        <p:txBody>
          <a:bodyPr/>
          <a:lstStyle/>
          <a:p>
            <a:endParaRPr lang="en-US"/>
          </a:p>
        </p:txBody>
      </p:sp>
      <p:pic>
        <p:nvPicPr>
          <p:cNvPr id="30" name="Image 6" descr="preencoded.png"/>
          <p:cNvPicPr>
            <a:picLocks noChangeAspect="1"/>
          </p:cNvPicPr>
          <p:nvPr/>
        </p:nvPicPr>
        <p:blipFill>
          <a:blip r:embed="rId9"/>
          <a:stretch>
            <a:fillRect/>
          </a:stretch>
        </p:blipFill>
        <p:spPr>
          <a:xfrm>
            <a:off x="6401775" y="2957535"/>
            <a:ext cx="266273" cy="266273"/>
          </a:xfrm>
          <a:prstGeom prst="rect">
            <a:avLst/>
          </a:prstGeom>
        </p:spPr>
      </p:pic>
      <p:sp>
        <p:nvSpPr>
          <p:cNvPr id="31" name="Text 22"/>
          <p:cNvSpPr/>
          <p:nvPr/>
        </p:nvSpPr>
        <p:spPr>
          <a:xfrm>
            <a:off x="6955536" y="2624328"/>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Feature Engineering</a:t>
            </a:r>
            <a:endParaRPr lang="en-US" sz="1250" dirty="0"/>
          </a:p>
        </p:txBody>
      </p:sp>
      <p:sp>
        <p:nvSpPr>
          <p:cNvPr id="32" name="Shape 23"/>
          <p:cNvSpPr/>
          <p:nvPr/>
        </p:nvSpPr>
        <p:spPr>
          <a:xfrm>
            <a:off x="457200" y="3739896"/>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33" name="Shape 24"/>
          <p:cNvSpPr/>
          <p:nvPr/>
        </p:nvSpPr>
        <p:spPr>
          <a:xfrm>
            <a:off x="621792" y="3950208"/>
            <a:ext cx="512064" cy="512064"/>
          </a:xfrm>
          <a:prstGeom prst="ellipse">
            <a:avLst/>
          </a:prstGeom>
          <a:solidFill>
            <a:srgbClr val="FF385C"/>
          </a:solidFill>
          <a:ln/>
        </p:spPr>
        <p:txBody>
          <a:bodyPr/>
          <a:lstStyle/>
          <a:p>
            <a:endParaRPr lang="en-US"/>
          </a:p>
        </p:txBody>
      </p:sp>
      <p:pic>
        <p:nvPicPr>
          <p:cNvPr id="34" name="Image 7" descr="preencoded.png"/>
          <p:cNvPicPr>
            <a:picLocks noChangeAspect="1"/>
          </p:cNvPicPr>
          <p:nvPr/>
        </p:nvPicPr>
        <p:blipFill>
          <a:blip r:embed="rId10"/>
          <a:stretch>
            <a:fillRect/>
          </a:stretch>
        </p:blipFill>
        <p:spPr>
          <a:xfrm>
            <a:off x="744687" y="4073103"/>
            <a:ext cx="266273" cy="266273"/>
          </a:xfrm>
          <a:prstGeom prst="rect">
            <a:avLst/>
          </a:prstGeom>
        </p:spPr>
      </p:pic>
      <p:sp>
        <p:nvSpPr>
          <p:cNvPr id="35" name="Text 25"/>
          <p:cNvSpPr/>
          <p:nvPr/>
        </p:nvSpPr>
        <p:spPr>
          <a:xfrm>
            <a:off x="1298448" y="3739896"/>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Data Warehouse</a:t>
            </a:r>
            <a:endParaRPr lang="en-US" sz="1250" dirty="0"/>
          </a:p>
        </p:txBody>
      </p:sp>
      <p:sp>
        <p:nvSpPr>
          <p:cNvPr id="36" name="Shape 26"/>
          <p:cNvSpPr/>
          <p:nvPr/>
        </p:nvSpPr>
        <p:spPr>
          <a:xfrm>
            <a:off x="3285744" y="3739896"/>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37" name="Shape 27"/>
          <p:cNvSpPr/>
          <p:nvPr/>
        </p:nvSpPr>
        <p:spPr>
          <a:xfrm>
            <a:off x="3450336" y="3950208"/>
            <a:ext cx="512064" cy="512064"/>
          </a:xfrm>
          <a:prstGeom prst="ellipse">
            <a:avLst/>
          </a:prstGeom>
          <a:solidFill>
            <a:srgbClr val="FF385C"/>
          </a:solidFill>
          <a:ln/>
        </p:spPr>
        <p:txBody>
          <a:bodyPr/>
          <a:lstStyle/>
          <a:p>
            <a:endParaRPr lang="en-US"/>
          </a:p>
        </p:txBody>
      </p:sp>
      <p:pic>
        <p:nvPicPr>
          <p:cNvPr id="38" name="Image 8" descr="preencoded.png"/>
          <p:cNvPicPr>
            <a:picLocks noChangeAspect="1"/>
          </p:cNvPicPr>
          <p:nvPr/>
        </p:nvPicPr>
        <p:blipFill>
          <a:blip r:embed="rId11"/>
          <a:stretch>
            <a:fillRect/>
          </a:stretch>
        </p:blipFill>
        <p:spPr>
          <a:xfrm>
            <a:off x="3573231" y="4073103"/>
            <a:ext cx="266273" cy="266273"/>
          </a:xfrm>
          <a:prstGeom prst="rect">
            <a:avLst/>
          </a:prstGeom>
        </p:spPr>
      </p:pic>
      <p:sp>
        <p:nvSpPr>
          <p:cNvPr id="39" name="Text 28"/>
          <p:cNvSpPr/>
          <p:nvPr/>
        </p:nvSpPr>
        <p:spPr>
          <a:xfrm>
            <a:off x="4126992" y="3739896"/>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Business Intelligence</a:t>
            </a:r>
            <a:endParaRPr lang="en-US" sz="1250" dirty="0"/>
          </a:p>
        </p:txBody>
      </p:sp>
      <p:sp>
        <p:nvSpPr>
          <p:cNvPr id="40" name="Shape 29"/>
          <p:cNvSpPr/>
          <p:nvPr/>
        </p:nvSpPr>
        <p:spPr>
          <a:xfrm>
            <a:off x="6114288" y="3739896"/>
            <a:ext cx="2572512" cy="932688"/>
          </a:xfrm>
          <a:prstGeom prst="roundRect">
            <a:avLst>
              <a:gd name="adj" fmla="val 7843"/>
            </a:avLst>
          </a:prstGeom>
          <a:solidFill>
            <a:srgbClr val="FFFFFF"/>
          </a:solidFill>
          <a:ln/>
          <a:effectLst>
            <a:outerShdw blurRad="101600" dist="38100" dir="2700000" algn="bl" rotWithShape="0">
              <a:srgbClr val="000000">
                <a:alpha val="12000"/>
              </a:srgbClr>
            </a:outerShdw>
          </a:effectLst>
        </p:spPr>
        <p:txBody>
          <a:bodyPr/>
          <a:lstStyle/>
          <a:p>
            <a:endParaRPr lang="en-US"/>
          </a:p>
        </p:txBody>
      </p:sp>
      <p:sp>
        <p:nvSpPr>
          <p:cNvPr id="41" name="Shape 30"/>
          <p:cNvSpPr/>
          <p:nvPr/>
        </p:nvSpPr>
        <p:spPr>
          <a:xfrm>
            <a:off x="6278880" y="3950208"/>
            <a:ext cx="512064" cy="512064"/>
          </a:xfrm>
          <a:prstGeom prst="ellipse">
            <a:avLst/>
          </a:prstGeom>
          <a:solidFill>
            <a:srgbClr val="FF385C"/>
          </a:solidFill>
          <a:ln/>
        </p:spPr>
        <p:txBody>
          <a:bodyPr/>
          <a:lstStyle/>
          <a:p>
            <a:endParaRPr lang="en-US"/>
          </a:p>
        </p:txBody>
      </p:sp>
      <p:pic>
        <p:nvPicPr>
          <p:cNvPr id="42" name="Image 9" descr="preencoded.png"/>
          <p:cNvPicPr>
            <a:picLocks noChangeAspect="1"/>
          </p:cNvPicPr>
          <p:nvPr/>
        </p:nvPicPr>
        <p:blipFill>
          <a:blip r:embed="rId12"/>
          <a:stretch>
            <a:fillRect/>
          </a:stretch>
        </p:blipFill>
        <p:spPr>
          <a:xfrm>
            <a:off x="6401775" y="4073103"/>
            <a:ext cx="266273" cy="266273"/>
          </a:xfrm>
          <a:prstGeom prst="rect">
            <a:avLst/>
          </a:prstGeom>
        </p:spPr>
      </p:pic>
      <p:sp>
        <p:nvSpPr>
          <p:cNvPr id="43" name="Text 31"/>
          <p:cNvSpPr/>
          <p:nvPr/>
        </p:nvSpPr>
        <p:spPr>
          <a:xfrm>
            <a:off x="6955536" y="3739896"/>
            <a:ext cx="1566672" cy="932688"/>
          </a:xfrm>
          <a:prstGeom prst="rect">
            <a:avLst/>
          </a:prstGeom>
          <a:noFill/>
          <a:ln/>
        </p:spPr>
        <p:txBody>
          <a:bodyPr wrap="square" lIns="0" tIns="0" rIns="0" bIns="0" rtlCol="0" anchor="ctr"/>
          <a:lstStyle/>
          <a:p>
            <a:pPr marL="0" indent="0">
              <a:buNone/>
            </a:pPr>
            <a:r>
              <a:rPr lang="en-US" sz="1250" b="1" dirty="0">
                <a:solidFill>
                  <a:srgbClr val="191919"/>
                </a:solidFill>
                <a:latin typeface="Cambria" pitchFamily="34" charset="0"/>
                <a:ea typeface="Cambria" pitchFamily="34" charset="-122"/>
                <a:cs typeface="Cambria" pitchFamily="34" charset="-120"/>
              </a:rPr>
              <a:t>Data Visualization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91919"/>
        </a:solidFill>
        <a:effectLst/>
      </p:bgPr>
    </p:bg>
    <p:spTree>
      <p:nvGrpSpPr>
        <p:cNvPr id="1" name=""/>
        <p:cNvGrpSpPr/>
        <p:nvPr/>
      </p:nvGrpSpPr>
      <p:grpSpPr>
        <a:xfrm>
          <a:off x="0" y="0"/>
          <a:ext cx="0" cy="0"/>
          <a:chOff x="0" y="0"/>
          <a:chExt cx="0" cy="0"/>
        </a:xfrm>
      </p:grpSpPr>
      <p:sp>
        <p:nvSpPr>
          <p:cNvPr id="2" name="Shape 0"/>
          <p:cNvSpPr/>
          <p:nvPr/>
        </p:nvSpPr>
        <p:spPr>
          <a:xfrm>
            <a:off x="-1463040" y="-1645920"/>
            <a:ext cx="3657600" cy="3657600"/>
          </a:xfrm>
          <a:prstGeom prst="ellipse">
            <a:avLst/>
          </a:prstGeom>
          <a:solidFill>
            <a:srgbClr val="252525"/>
          </a:solidFill>
          <a:ln/>
        </p:spPr>
        <p:txBody>
          <a:bodyPr/>
          <a:lstStyle/>
          <a:p>
            <a:endParaRPr lang="en-US"/>
          </a:p>
        </p:txBody>
      </p:sp>
      <p:sp>
        <p:nvSpPr>
          <p:cNvPr id="3" name="Shape 1"/>
          <p:cNvSpPr/>
          <p:nvPr/>
        </p:nvSpPr>
        <p:spPr>
          <a:xfrm>
            <a:off x="6675120" y="2377440"/>
            <a:ext cx="3840480" cy="3840480"/>
          </a:xfrm>
          <a:prstGeom prst="ellipse">
            <a:avLst/>
          </a:prstGeom>
          <a:solidFill>
            <a:srgbClr val="FF385C"/>
          </a:solidFill>
          <a:ln/>
        </p:spPr>
        <p:txBody>
          <a:bodyPr/>
          <a:lstStyle/>
          <a:p>
            <a:endParaRPr lang="en-US"/>
          </a:p>
        </p:txBody>
      </p:sp>
      <p:sp>
        <p:nvSpPr>
          <p:cNvPr id="4" name="Shape 2"/>
          <p:cNvSpPr/>
          <p:nvPr/>
        </p:nvSpPr>
        <p:spPr>
          <a:xfrm>
            <a:off x="7040880" y="2743200"/>
            <a:ext cx="3108960" cy="3108960"/>
          </a:xfrm>
          <a:prstGeom prst="ellipse">
            <a:avLst/>
          </a:prstGeom>
          <a:solidFill>
            <a:srgbClr val="191919"/>
          </a:solidFill>
          <a:ln/>
        </p:spPr>
        <p:txBody>
          <a:bodyPr/>
          <a:lstStyle/>
          <a:p>
            <a:endParaRPr lang="en-US"/>
          </a:p>
        </p:txBody>
      </p:sp>
      <p:sp>
        <p:nvSpPr>
          <p:cNvPr id="5" name="Shape 3"/>
          <p:cNvSpPr/>
          <p:nvPr/>
        </p:nvSpPr>
        <p:spPr>
          <a:xfrm>
            <a:off x="548640" y="502920"/>
            <a:ext cx="566928" cy="566928"/>
          </a:xfrm>
          <a:prstGeom prst="ellipse">
            <a:avLst/>
          </a:prstGeom>
          <a:solidFill>
            <a:srgbClr val="FF385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76199" y="630479"/>
            <a:ext cx="311810" cy="311810"/>
          </a:xfrm>
          <a:prstGeom prst="rect">
            <a:avLst/>
          </a:prstGeom>
        </p:spPr>
      </p:pic>
      <p:sp>
        <p:nvSpPr>
          <p:cNvPr id="7" name="Text 4"/>
          <p:cNvSpPr/>
          <p:nvPr/>
        </p:nvSpPr>
        <p:spPr>
          <a:xfrm>
            <a:off x="548640" y="1874520"/>
            <a:ext cx="64008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8" name="Text 5"/>
          <p:cNvSpPr/>
          <p:nvPr/>
        </p:nvSpPr>
        <p:spPr>
          <a:xfrm>
            <a:off x="566928" y="2606040"/>
            <a:ext cx="6035040" cy="457200"/>
          </a:xfrm>
          <a:prstGeom prst="rect">
            <a:avLst/>
          </a:prstGeom>
          <a:noFill/>
          <a:ln/>
        </p:spPr>
        <p:txBody>
          <a:bodyPr wrap="square" lIns="0" tIns="0" rIns="0" bIns="0" rtlCol="0" anchor="ctr"/>
          <a:lstStyle/>
          <a:p>
            <a:pPr marL="0" indent="0">
              <a:buNone/>
            </a:pPr>
            <a:r>
              <a:rPr lang="en-US" sz="1300" dirty="0">
                <a:solidFill>
                  <a:srgbClr val="B0B0B0"/>
                </a:solidFill>
                <a:latin typeface="Calibri" pitchFamily="34" charset="0"/>
                <a:ea typeface="Calibri" pitchFamily="34" charset="-122"/>
                <a:cs typeface="Calibri" pitchFamily="34" charset="-120"/>
              </a:rPr>
              <a:t>Let's discuss how data-driven insight can shape your next business decision.</a:t>
            </a:r>
            <a:endParaRPr lang="en-US" sz="1300" dirty="0"/>
          </a:p>
        </p:txBody>
      </p:sp>
      <p:sp>
        <p:nvSpPr>
          <p:cNvPr id="9" name="Shape 6"/>
          <p:cNvSpPr/>
          <p:nvPr/>
        </p:nvSpPr>
        <p:spPr>
          <a:xfrm>
            <a:off x="548640" y="3429000"/>
            <a:ext cx="365760" cy="365760"/>
          </a:xfrm>
          <a:prstGeom prst="ellipse">
            <a:avLst/>
          </a:prstGeom>
          <a:solidFill>
            <a:srgbClr val="D93B54"/>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30936" y="3511296"/>
            <a:ext cx="201168" cy="201168"/>
          </a:xfrm>
          <a:prstGeom prst="rect">
            <a:avLst/>
          </a:prstGeom>
        </p:spPr>
      </p:pic>
      <p:sp>
        <p:nvSpPr>
          <p:cNvPr id="11" name="Text 7"/>
          <p:cNvSpPr/>
          <p:nvPr/>
        </p:nvSpPr>
        <p:spPr>
          <a:xfrm>
            <a:off x="1051560" y="3429000"/>
            <a:ext cx="4572000"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mohammed.mokhtar.softwareeng@gmail.com</a:t>
            </a:r>
            <a:endParaRPr lang="en-US" sz="1150" dirty="0"/>
          </a:p>
        </p:txBody>
      </p:sp>
      <p:sp>
        <p:nvSpPr>
          <p:cNvPr id="12" name="Shape 8"/>
          <p:cNvSpPr/>
          <p:nvPr/>
        </p:nvSpPr>
        <p:spPr>
          <a:xfrm>
            <a:off x="548640" y="3886200"/>
            <a:ext cx="365760" cy="365760"/>
          </a:xfrm>
          <a:prstGeom prst="ellipse">
            <a:avLst/>
          </a:prstGeom>
          <a:solidFill>
            <a:srgbClr val="D93B54"/>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30936" y="3968496"/>
            <a:ext cx="201168" cy="201168"/>
          </a:xfrm>
          <a:prstGeom prst="rect">
            <a:avLst/>
          </a:prstGeom>
        </p:spPr>
      </p:pic>
      <p:sp>
        <p:nvSpPr>
          <p:cNvPr id="14" name="Text 9"/>
          <p:cNvSpPr/>
          <p:nvPr/>
        </p:nvSpPr>
        <p:spPr>
          <a:xfrm>
            <a:off x="1051560" y="3886200"/>
            <a:ext cx="4572000" cy="365760"/>
          </a:xfrm>
          <a:prstGeom prst="rect">
            <a:avLst/>
          </a:prstGeom>
          <a:noFill/>
          <a:ln/>
        </p:spPr>
        <p:txBody>
          <a:bodyPr wrap="square" lIns="0" tIns="0" rIns="0" bIns="0" rtlCol="0" anchor="ctr"/>
          <a:lstStyle/>
          <a:p>
            <a:r>
              <a:rPr lang="en-US" sz="1150" dirty="0">
                <a:solidFill>
                  <a:srgbClr val="FFFFFF"/>
                </a:solidFill>
                <a:latin typeface="Calibri" pitchFamily="34" charset="0"/>
                <a:ea typeface="Calibri" pitchFamily="34" charset="-122"/>
                <a:cs typeface="Calibri" pitchFamily="34" charset="-120"/>
              </a:rPr>
              <a:t>https://www.linkedin.com/in/mohammed-mokhtar-26668432b/</a:t>
            </a:r>
            <a:endParaRPr lang="en-US" sz="1150" dirty="0"/>
          </a:p>
        </p:txBody>
      </p:sp>
      <p:sp>
        <p:nvSpPr>
          <p:cNvPr id="15" name="Shape 10"/>
          <p:cNvSpPr/>
          <p:nvPr/>
        </p:nvSpPr>
        <p:spPr>
          <a:xfrm>
            <a:off x="548640" y="4343400"/>
            <a:ext cx="365760" cy="365760"/>
          </a:xfrm>
          <a:prstGeom prst="ellipse">
            <a:avLst/>
          </a:prstGeom>
          <a:solidFill>
            <a:srgbClr val="D93B54"/>
          </a:solidFill>
          <a:ln/>
        </p:spPr>
        <p:txBody>
          <a:bodyPr/>
          <a:lstStyle/>
          <a:p>
            <a:endParaRPr lang="en-US"/>
          </a:p>
        </p:txBody>
      </p:sp>
      <p:pic>
        <p:nvPicPr>
          <p:cNvPr id="16" name="Image 3" descr="preencoded.png"/>
          <p:cNvPicPr>
            <a:picLocks noChangeAspect="1"/>
          </p:cNvPicPr>
          <p:nvPr/>
        </p:nvPicPr>
        <p:blipFill>
          <a:blip r:embed="rId6"/>
          <a:stretch>
            <a:fillRect/>
          </a:stretch>
        </p:blipFill>
        <p:spPr>
          <a:xfrm>
            <a:off x="630936" y="4425696"/>
            <a:ext cx="201168" cy="201168"/>
          </a:xfrm>
          <a:prstGeom prst="rect">
            <a:avLst/>
          </a:prstGeom>
        </p:spPr>
      </p:pic>
      <p:sp>
        <p:nvSpPr>
          <p:cNvPr id="17" name="Text 11"/>
          <p:cNvSpPr/>
          <p:nvPr/>
        </p:nvSpPr>
        <p:spPr>
          <a:xfrm>
            <a:off x="1051560" y="4343400"/>
            <a:ext cx="4572000" cy="3657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github.com/mohammedmokhtar77</a:t>
            </a:r>
            <a:endParaRPr lang="en-US" sz="1150" dirty="0"/>
          </a:p>
        </p:txBody>
      </p:sp>
      <p:sp>
        <p:nvSpPr>
          <p:cNvPr id="18" name="Text 12"/>
          <p:cNvSpPr/>
          <p:nvPr/>
        </p:nvSpPr>
        <p:spPr>
          <a:xfrm>
            <a:off x="548640" y="4640580"/>
            <a:ext cx="3657600" cy="274320"/>
          </a:xfrm>
          <a:prstGeom prst="rect">
            <a:avLst/>
          </a:prstGeom>
          <a:noFill/>
          <a:ln/>
        </p:spPr>
        <p:txBody>
          <a:bodyPr wrap="square" lIns="0" tIns="0" rIns="0" bIns="0" rtlCol="0" anchor="ctr"/>
          <a:lstStyle/>
          <a:p>
            <a:pPr marL="0" indent="0">
              <a:buNone/>
            </a:pPr>
            <a:r>
              <a:rPr lang="en-US" sz="950" dirty="0">
                <a:solidFill>
                  <a:srgbClr val="B0B0B0"/>
                </a:solidFill>
                <a:latin typeface="Calibri" pitchFamily="34" charset="0"/>
                <a:ea typeface="Calibri" pitchFamily="34" charset="-122"/>
                <a:cs typeface="Calibri" pitchFamily="34" charset="-120"/>
              </a:rPr>
              <a:t>Mohammed Mokhtar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2080</Words>
  <Application>Microsoft Office PowerPoint</Application>
  <PresentationFormat>On-screen Show (16:9)</PresentationFormat>
  <Paragraphs>196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Airbnb Analytics &amp; Business Intelligence Dashboard</dc:title>
  <dc:subject>PptxGenJS Presentation</dc:subject>
  <dc:creator>Mohammed Mokhtar</dc:creator>
  <cp:lastModifiedBy>محمد مختار على محمد</cp:lastModifiedBy>
  <cp:revision>4</cp:revision>
  <dcterms:created xsi:type="dcterms:W3CDTF">2026-07-05T16:38:45Z</dcterms:created>
  <dcterms:modified xsi:type="dcterms:W3CDTF">2026-07-05T16:54:25Z</dcterms:modified>
</cp:coreProperties>
</file>